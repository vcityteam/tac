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79" r:id="rId4"/>
    <p:sldId id="358" r:id="rId5"/>
    <p:sldId id="346" r:id="rId6"/>
    <p:sldId id="347" r:id="rId7"/>
    <p:sldId id="359" r:id="rId8"/>
    <p:sldId id="366" r:id="rId9"/>
    <p:sldId id="367" r:id="rId10"/>
    <p:sldId id="352" r:id="rId11"/>
    <p:sldId id="302" r:id="rId12"/>
    <p:sldId id="348" r:id="rId13"/>
    <p:sldId id="360" r:id="rId14"/>
    <p:sldId id="368" r:id="rId15"/>
    <p:sldId id="369" r:id="rId16"/>
    <p:sldId id="353" r:id="rId17"/>
    <p:sldId id="285" r:id="rId18"/>
    <p:sldId id="354" r:id="rId19"/>
    <p:sldId id="361" r:id="rId20"/>
    <p:sldId id="370" r:id="rId21"/>
    <p:sldId id="371" r:id="rId22"/>
    <p:sldId id="349" r:id="rId23"/>
    <p:sldId id="286" r:id="rId24"/>
    <p:sldId id="350" r:id="rId25"/>
    <p:sldId id="362" r:id="rId26"/>
    <p:sldId id="372" r:id="rId27"/>
    <p:sldId id="373" r:id="rId28"/>
    <p:sldId id="355" r:id="rId29"/>
    <p:sldId id="312" r:id="rId30"/>
    <p:sldId id="351" r:id="rId31"/>
    <p:sldId id="363" r:id="rId32"/>
    <p:sldId id="374" r:id="rId33"/>
    <p:sldId id="375" r:id="rId34"/>
    <p:sldId id="356" r:id="rId35"/>
    <p:sldId id="357" r:id="rId36"/>
    <p:sldId id="364" r:id="rId37"/>
    <p:sldId id="365" r:id="rId38"/>
    <p:sldId id="376" r:id="rId39"/>
    <p:sldId id="377" r:id="rId40"/>
    <p:sldId id="381" r:id="rId41"/>
    <p:sldId id="382" r:id="rId42"/>
    <p:sldId id="383" r:id="rId43"/>
    <p:sldId id="384" r:id="rId44"/>
    <p:sldId id="385" r:id="rId45"/>
    <p:sldId id="386" r:id="rId46"/>
    <p:sldId id="387" r:id="rId47"/>
    <p:sldId id="388" r:id="rId48"/>
    <p:sldId id="389" r:id="rId49"/>
    <p:sldId id="390" r:id="rId50"/>
    <p:sldId id="391" r:id="rId51"/>
    <p:sldId id="392" r:id="rId52"/>
    <p:sldId id="393" r:id="rId53"/>
    <p:sldId id="394" r:id="rId54"/>
    <p:sldId id="395" r:id="rId55"/>
    <p:sldId id="409" r:id="rId56"/>
    <p:sldId id="410" r:id="rId57"/>
    <p:sldId id="396" r:id="rId58"/>
    <p:sldId id="397" r:id="rId59"/>
    <p:sldId id="398" r:id="rId60"/>
    <p:sldId id="399" r:id="rId61"/>
    <p:sldId id="400" r:id="rId62"/>
    <p:sldId id="401" r:id="rId63"/>
    <p:sldId id="402" r:id="rId64"/>
    <p:sldId id="403" r:id="rId65"/>
    <p:sldId id="404" r:id="rId66"/>
    <p:sldId id="405" r:id="rId67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4A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54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/>
          <p:cNvGrpSpPr/>
          <p:nvPr userDrawn="1"/>
        </p:nvGrpSpPr>
        <p:grpSpPr>
          <a:xfrm>
            <a:off x="0" y="2033540"/>
            <a:ext cx="9144000" cy="1190720"/>
            <a:chOff x="0" y="1701304"/>
            <a:chExt cx="9144000" cy="1470025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1701304"/>
              <a:ext cx="9144000" cy="147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1886" y="1701304"/>
              <a:ext cx="4504250" cy="144016"/>
            </a:xfrm>
            <a:prstGeom prst="rect">
              <a:avLst/>
            </a:prstGeom>
            <a:solidFill>
              <a:srgbClr val="B8B9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fr-FR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4639750" y="3027313"/>
              <a:ext cx="4504250" cy="144016"/>
            </a:xfrm>
            <a:prstGeom prst="rect">
              <a:avLst/>
            </a:prstGeom>
            <a:solidFill>
              <a:srgbClr val="B539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2093043"/>
            <a:ext cx="6858000" cy="957415"/>
          </a:xfrm>
        </p:spPr>
        <p:txBody>
          <a:bodyPr anchor="ctr" anchorCtr="1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kern="1200" dirty="0">
                <a:solidFill>
                  <a:srgbClr val="184A7C"/>
                </a:solidFill>
                <a:latin typeface="+mn-lt"/>
                <a:ea typeface="+mj-ea"/>
                <a:cs typeface="Arial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3311CEC2-7E8B-58D8-CCB0-C646E738E32C}"/>
              </a:ext>
            </a:extLst>
          </p:cNvPr>
          <p:cNvGrpSpPr/>
          <p:nvPr userDrawn="1"/>
        </p:nvGrpSpPr>
        <p:grpSpPr>
          <a:xfrm>
            <a:off x="1" y="0"/>
            <a:ext cx="9142113" cy="5142439"/>
            <a:chOff x="1" y="0"/>
            <a:chExt cx="9142113" cy="5142439"/>
          </a:xfrm>
        </p:grpSpPr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2BD1688D-D452-497D-8267-D85AE791BD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" y="0"/>
              <a:ext cx="9142113" cy="5142439"/>
            </a:xfrm>
            <a:prstGeom prst="rect">
              <a:avLst/>
            </a:prstGeom>
          </p:spPr>
        </p:pic>
        <p:pic>
          <p:nvPicPr>
            <p:cNvPr id="4" name="Image 3" descr="Une image contenant Police, Graphique, logo, cercle&#10;&#10;Description générée automatiquement">
              <a:extLst>
                <a:ext uri="{FF2B5EF4-FFF2-40B4-BE49-F238E27FC236}">
                  <a16:creationId xmlns:a16="http://schemas.microsoft.com/office/drawing/2014/main" id="{663BE605-13D5-1670-1227-4654C075B8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091" y="4202868"/>
              <a:ext cx="681296" cy="6719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507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140A2D93-1740-4C6F-BAE9-B580F7FCE4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3349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BCDAC507-911E-4D9A-9367-5747FA03C3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3464651"/>
            <a:ext cx="7886700" cy="754227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213356"/>
            <a:ext cx="7886700" cy="1022855"/>
          </a:xfrm>
        </p:spPr>
        <p:txBody>
          <a:bodyPr anchor="b" anchorCtr="0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395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FA5D0A9F-8F33-4831-AD7D-2432557235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018108"/>
            <a:ext cx="3886200" cy="36146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18108"/>
            <a:ext cx="3886200" cy="36146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3791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que 15">
            <a:extLst>
              <a:ext uri="{FF2B5EF4-FFF2-40B4-BE49-F238E27FC236}">
                <a16:creationId xmlns:a16="http://schemas.microsoft.com/office/drawing/2014/main" id="{0DF48902-085D-4BC8-BCCD-313EBE1A0F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73811"/>
            <a:ext cx="7886700" cy="51274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973706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589494"/>
            <a:ext cx="3868340" cy="303978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973706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589494"/>
            <a:ext cx="3887391" cy="303978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3167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que 11">
            <a:extLst>
              <a:ext uri="{FF2B5EF4-FFF2-40B4-BE49-F238E27FC236}">
                <a16:creationId xmlns:a16="http://schemas.microsoft.com/office/drawing/2014/main" id="{D2195C6D-45B2-4126-88D3-5A236E8B55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842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ed de pag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22DBC290-2349-4FC5-ABDF-9CB28F53CE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1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118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7158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3880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556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56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70751FDA-1D85-4E19-80EA-B0CE6B0CE4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" y="0"/>
            <a:ext cx="9143998" cy="514349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7381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6461"/>
            <a:ext cx="7886700" cy="3716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7125" y="4797491"/>
            <a:ext cx="86443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84A7C"/>
                </a:solidFill>
              </a:defRPr>
            </a:lvl1pPr>
          </a:lstStyle>
          <a:p>
            <a:fld id="{51A6EA8C-2C90-4E49-8C34-37882B6FFE4F}" type="datetimeFigureOut">
              <a:rPr lang="fr-FR" smtClean="0"/>
              <a:pPr/>
              <a:t>09/10/2026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97491"/>
            <a:ext cx="425831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84A7C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4648" y="4797491"/>
            <a:ext cx="6107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184A7C"/>
                </a:solidFill>
              </a:defRPr>
            </a:lvl1pPr>
          </a:lstStyle>
          <a:p>
            <a:fld id="{33B8C7BD-462B-48D7-8427-09CAA7096E3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8712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2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184A7C"/>
          </a:solidFill>
          <a:latin typeface="+mn-lt"/>
          <a:ea typeface="+mj-ea"/>
          <a:cs typeface="+mj-cs"/>
        </a:defRPr>
      </a:lvl1pPr>
    </p:titleStyle>
    <p:bodyStyle>
      <a:lvl1pPr marL="342900" marR="0" indent="-3429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6"/>
        </a:buBlip>
        <a:tabLst/>
        <a:defRPr sz="2400" b="1" kern="1200">
          <a:solidFill>
            <a:srgbClr val="184A7C"/>
          </a:solidFill>
          <a:latin typeface="+mn-lt"/>
          <a:ea typeface="+mn-ea"/>
          <a:cs typeface="+mn-cs"/>
        </a:defRPr>
      </a:lvl1pPr>
      <a:lvl2pPr marL="533400" marR="0" indent="-28575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7"/>
        </a:buBlip>
        <a:tabLst/>
        <a:defRPr sz="2000" kern="1200">
          <a:solidFill>
            <a:srgbClr val="184A7C"/>
          </a:solidFill>
          <a:latin typeface="+mn-lt"/>
          <a:ea typeface="+mn-ea"/>
          <a:cs typeface="+mn-cs"/>
        </a:defRPr>
      </a:lvl2pPr>
      <a:lvl3pPr marL="717550" marR="0" indent="-2667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8"/>
        </a:buBlip>
        <a:tabLst/>
        <a:defRPr sz="1800" kern="1200">
          <a:solidFill>
            <a:srgbClr val="184A7C"/>
          </a:solidFill>
          <a:latin typeface="+mn-lt"/>
          <a:ea typeface="+mn-ea"/>
          <a:cs typeface="+mn-cs"/>
        </a:defRPr>
      </a:lvl3pPr>
      <a:lvl4pPr marL="987425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9"/>
        </a:buBlip>
        <a:tabLst/>
        <a:defRPr sz="1600" i="1" kern="1200">
          <a:solidFill>
            <a:srgbClr val="184A7C"/>
          </a:solidFill>
          <a:latin typeface="+mn-lt"/>
          <a:ea typeface="+mn-ea"/>
          <a:cs typeface="+mn-cs"/>
        </a:defRPr>
      </a:lvl4pPr>
      <a:lvl5pPr marL="1246188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20"/>
        </a:buBlip>
        <a:tabLst/>
        <a:defRPr sz="1600" kern="1200">
          <a:solidFill>
            <a:srgbClr val="184A7C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2001603"/>
            <a:ext cx="6858000" cy="957415"/>
          </a:xfrm>
        </p:spPr>
        <p:txBody>
          <a:bodyPr>
            <a:normAutofit/>
          </a:bodyPr>
          <a:lstStyle/>
          <a:p>
            <a:r>
              <a:rPr lang="fr-FR" b="1" dirty="0"/>
              <a:t>Agent TAC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E0FD771-3B8E-E019-F742-113477F97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435" y="260848"/>
            <a:ext cx="1510850" cy="7698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82A2454-C9B2-BE92-57E8-25153AF43A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139" y="83770"/>
            <a:ext cx="1162998" cy="11240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ZoneTexte 6">
            <a:extLst>
              <a:ext uri="{FF2B5EF4-FFF2-40B4-BE49-F238E27FC236}">
                <a16:creationId xmlns:a16="http://schemas.microsoft.com/office/drawing/2014/main" id="{AD411B4E-6E61-83A3-154F-38BB12EB8229}"/>
              </a:ext>
            </a:extLst>
          </p:cNvPr>
          <p:cNvSpPr txBox="1"/>
          <p:nvPr/>
        </p:nvSpPr>
        <p:spPr>
          <a:xfrm>
            <a:off x="4251960" y="3752836"/>
            <a:ext cx="112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/>
              <a:t>10/09/2026</a:t>
            </a:r>
          </a:p>
        </p:txBody>
      </p:sp>
    </p:spTree>
    <p:extLst>
      <p:ext uri="{BB962C8B-B14F-4D97-AF65-F5344CB8AC3E}">
        <p14:creationId xmlns:p14="http://schemas.microsoft.com/office/powerpoint/2010/main" val="2663665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8269A5-CF96-3E7C-5130-70C3F4325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Plan de la présentation</a:t>
            </a:r>
            <a:endParaRPr lang="fr-FR" b="1" dirty="0">
              <a:cs typeface="Times New Roman" panose="02020603050405020304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158721A1-6C1D-DBB9-C7E8-10C4EAE8B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9E13667-82D6-D2EA-E5DE-939BD12E6A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2ADEB7CC-52F9-CA22-D899-A38EF3503F29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  <a:endParaRPr lang="fr-FR" b="1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74346614-A115-BB1C-0E08-5E06E3160334}"/>
              </a:ext>
            </a:extLst>
          </p:cNvPr>
          <p:cNvSpPr txBox="1">
            <a:spLocks/>
          </p:cNvSpPr>
          <p:nvPr/>
        </p:nvSpPr>
        <p:spPr>
          <a:xfrm>
            <a:off x="690065" y="102389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1 - 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Fine-tuning </a:t>
            </a:r>
            <a:endParaRPr lang="fr-FR" sz="2000" b="1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C1A1C20A-93D1-B34B-C6A9-8CB8D3FF753F}"/>
              </a:ext>
            </a:extLst>
          </p:cNvPr>
          <p:cNvSpPr txBox="1">
            <a:spLocks/>
          </p:cNvSpPr>
          <p:nvPr/>
        </p:nvSpPr>
        <p:spPr>
          <a:xfrm>
            <a:off x="690065" y="1552351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2 - 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Similarity</a:t>
            </a:r>
            <a:endParaRPr lang="fr-FR" sz="2000" b="1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369AB3A-5607-3BE2-91D6-DAF943A6D2D2}"/>
              </a:ext>
            </a:extLst>
          </p:cNvPr>
          <p:cNvSpPr txBox="1">
            <a:spLocks/>
          </p:cNvSpPr>
          <p:nvPr/>
        </p:nvSpPr>
        <p:spPr>
          <a:xfrm>
            <a:off x="690065" y="2069599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3 – Architecture du Graph RAG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</a:t>
            </a:r>
            <a:endParaRPr lang="fr-FR" sz="2000" b="1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13ECCE4-94CB-D32A-6EA9-CE672EB6A950}"/>
              </a:ext>
            </a:extLst>
          </p:cNvPr>
          <p:cNvSpPr txBox="1">
            <a:spLocks/>
          </p:cNvSpPr>
          <p:nvPr/>
        </p:nvSpPr>
        <p:spPr>
          <a:xfrm>
            <a:off x="690065" y="2606898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/>
              <a:t>4 – </a:t>
            </a:r>
            <a:r>
              <a:rPr lang="en-US" sz="1800" b="1" kern="120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Contenu des bases</a:t>
            </a:r>
            <a:r>
              <a:rPr lang="fr-FR" sz="2000" b="1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</a:t>
            </a:r>
            <a:endParaRPr lang="fr-FR" sz="2000" b="1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75248415-F026-C851-49BB-424263278B62}"/>
              </a:ext>
            </a:extLst>
          </p:cNvPr>
          <p:cNvSpPr txBox="1">
            <a:spLocks/>
          </p:cNvSpPr>
          <p:nvPr/>
        </p:nvSpPr>
        <p:spPr>
          <a:xfrm>
            <a:off x="690065" y="3104095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5 – 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Document et </a:t>
            </a:r>
            <a:r>
              <a:rPr lang="en-US" sz="1800" b="1" kern="1200" dirty="0" err="1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metadonnees</a:t>
            </a:r>
            <a:r>
              <a:rPr lang="fr-FR" sz="2000" b="1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</a:t>
            </a:r>
            <a:endParaRPr lang="fr-FR" sz="2000" b="1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254B590E-03AC-2269-84D4-B4D1C6BBAFF5}"/>
              </a:ext>
            </a:extLst>
          </p:cNvPr>
          <p:cNvSpPr txBox="1">
            <a:spLocks/>
          </p:cNvSpPr>
          <p:nvPr/>
        </p:nvSpPr>
        <p:spPr>
          <a:xfrm>
            <a:off x="690065" y="3674078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6 – Retriever de base du thésaurus</a:t>
            </a:r>
            <a:r>
              <a:rPr lang="fr-FR" sz="2000" b="1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</a:t>
            </a: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213227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2ECA0AB1-6CE0-814C-B154-46FA56D999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3514"/>
            <a:ext cx="4465320" cy="1958582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9182C994-A8F4-24DD-8E35-9CB4AD4DB67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954151"/>
            <a:ext cx="4571998" cy="113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804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C2EE2780-01D5-0A82-0395-1EA0571F93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81" y="1365911"/>
            <a:ext cx="4068960" cy="130206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2EA8560F-9726-D362-86DA-B730800F49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65910"/>
            <a:ext cx="4068960" cy="1302067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35E4E9B-675B-D590-7C75-681C2315AD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520" y="3055439"/>
            <a:ext cx="4068960" cy="130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040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7227997-AA39-3D1C-A267-C5FEDFA902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5319"/>
            <a:ext cx="9144000" cy="267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372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err="1"/>
              <a:t>Similarité</a:t>
            </a:r>
            <a:r>
              <a:rPr lang="en-US" sz="2000" b="1" dirty="0"/>
              <a:t>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F20B5D3-E640-D112-DE1A-5A3F8B220F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959" y="915139"/>
            <a:ext cx="5842082" cy="362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33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10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6994E3B-1256-D04F-6C0D-50A68B2DA54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780"/>
            <a:ext cx="9144000" cy="450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50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D37423F-7256-400C-E85A-381718A40A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160"/>
            <a:ext cx="9144000" cy="3975980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F37BDC93-C808-2001-3E74-EA46C2AF5318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11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516146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FDFA4F2-660D-3F20-4D62-F54E2F288B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850"/>
            <a:ext cx="9144000" cy="4476118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7C12E30A-1B2C-34E3-8B3F-9E60A7053B4D}"/>
              </a:ext>
            </a:extLst>
          </p:cNvPr>
          <p:cNvSpPr/>
          <p:nvPr/>
        </p:nvSpPr>
        <p:spPr>
          <a:xfrm>
            <a:off x="418405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12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79706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1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21622F8-5402-57D9-ABF0-6D82346F6B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54" y="1186338"/>
            <a:ext cx="4366613" cy="139731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5A07EA2-88A7-51B6-DE21-F03E2E5CE0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949" y="1201126"/>
            <a:ext cx="4366613" cy="139731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8FA46A1-895B-7316-FD60-2ABF91D765C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642" y="2948931"/>
            <a:ext cx="4366613" cy="1397316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18C8352E-EE69-3AFF-BA3A-63C2E32C6F8A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13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285535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1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8871DC4-96D8-B0BA-5CA3-E4BE1DDD28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5319"/>
            <a:ext cx="9144000" cy="2672862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049B1AE6-3A73-3938-F0F5-59D138F0A8FE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14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69825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err="1"/>
              <a:t>Similarité</a:t>
            </a:r>
            <a:r>
              <a:rPr lang="en-US" sz="2000" b="1" dirty="0"/>
              <a:t> : </a:t>
            </a:r>
            <a:r>
              <a:rPr lang="en-US" sz="2000" b="1" dirty="0" err="1"/>
              <a:t>brique</a:t>
            </a:r>
            <a:r>
              <a:rPr lang="en-US" sz="2000" b="1" dirty="0"/>
              <a:t> 1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FC4B3C8-D9B0-C764-6897-447D4DEEFE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253" y="1023748"/>
            <a:ext cx="5550064" cy="3441039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ED6133AC-C246-905C-C0C6-92F0AED2B68B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15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863084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708F5E2-98EB-C1B4-7CD7-677EE509CA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671"/>
            <a:ext cx="9144000" cy="4557297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85139919-833D-EFC8-E796-DC45F0C8453A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16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797606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FD0A4D0-336B-D178-6E80-584A3C471D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681"/>
            <a:ext cx="9144000" cy="4368297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1E1389CE-2A0C-D0A7-752E-A5F2F87D94A3}"/>
              </a:ext>
            </a:extLst>
          </p:cNvPr>
          <p:cNvSpPr/>
          <p:nvPr/>
        </p:nvSpPr>
        <p:spPr>
          <a:xfrm>
            <a:off x="418405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17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504468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F610149-6786-4351-FAB8-0154CAE88D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6161"/>
            <a:ext cx="9144000" cy="4368297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B737AFA5-46D7-C6A8-C812-6150010C0E97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18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339544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2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FE7AF5B-676A-9341-0744-D8236829ED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65" y="1225513"/>
            <a:ext cx="4384435" cy="140301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B5D5D6D-1A7C-9A39-6D2E-E8F6491445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220" y="1225513"/>
            <a:ext cx="4384435" cy="1403019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758E69B7-6385-BCB5-5C42-0C119D35A48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520" y="2985240"/>
            <a:ext cx="4384435" cy="1403019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C6BAEA7D-A599-1403-E108-F868C28AF30E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19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04513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2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3B60A67-9D47-B51B-BA9F-94634B16D7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5319"/>
            <a:ext cx="9144000" cy="2672862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0AA23A4D-5468-0225-3AD3-AC542C90D215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20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09479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err="1"/>
              <a:t>Similarité</a:t>
            </a:r>
            <a:r>
              <a:rPr lang="en-US" sz="2000" b="1" dirty="0"/>
              <a:t> : </a:t>
            </a:r>
            <a:r>
              <a:rPr lang="en-US" sz="2000" b="1" dirty="0" err="1"/>
              <a:t>brique</a:t>
            </a:r>
            <a:r>
              <a:rPr lang="en-US" sz="2000" b="1" dirty="0"/>
              <a:t> 2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C4FA4BB-6E84-C285-50DB-AB2F080C8B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910" y="856234"/>
            <a:ext cx="6121564" cy="3795370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613A4BF0-F777-9FEE-AD25-B6B752B4987C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21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69283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F29A0F0-756A-C37E-3CCA-4A71C6A969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552"/>
            <a:ext cx="9144000" cy="4632356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16EA1884-5108-F152-994B-405ECC9EF94F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22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47379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1620305-94C4-9CAA-8409-20D87CDE02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7632"/>
            <a:ext cx="9144000" cy="4408788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D6A88C2C-7573-462A-F9C1-A7AFF676D4BD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23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480736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6101EF8-C96D-ACCB-94C1-2C559D9D0B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6360"/>
            <a:ext cx="9144000" cy="4504099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59E0450F-0529-11C0-BCFD-E920E8D5AC67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24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359276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3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23A550F-5D28-2219-9DF7-24DB5AAC31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10" y="1215377"/>
            <a:ext cx="4232036" cy="135425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361DFFE-E784-AAD5-122D-02A5E042320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1656" y="1215377"/>
            <a:ext cx="4232036" cy="135425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40F2A13-312A-F760-8307-55A5A53ADD1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638" y="2988343"/>
            <a:ext cx="4232036" cy="1354251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644936F0-4BB4-D9B9-36E9-BAA5992EB471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25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48486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3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1CE1FA6-E386-BC0C-8FF7-E979C1C993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5319"/>
            <a:ext cx="9144000" cy="2672862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86235B7B-137C-9490-1B8A-8442D88F4053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26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6743140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err="1"/>
              <a:t>Similarité</a:t>
            </a:r>
            <a:r>
              <a:rPr lang="en-US" sz="2000" b="1" dirty="0"/>
              <a:t> : </a:t>
            </a:r>
            <a:r>
              <a:rPr lang="en-US" sz="2000" b="1" dirty="0" err="1"/>
              <a:t>brique</a:t>
            </a:r>
            <a:r>
              <a:rPr lang="en-US" sz="2000" b="1" dirty="0"/>
              <a:t> 3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6BAC4BA-DAE0-571E-573E-60E9032C79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940" y="1005053"/>
            <a:ext cx="5641504" cy="3497732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DA94C1DB-6B8F-7249-79D3-68B5FD0599DE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27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95094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DDFBB45-4458-9A34-D8A1-8B69B215B5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812"/>
            <a:ext cx="9144000" cy="4512488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1690D6B3-0C46-15A0-190C-F8EE06A465EB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28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50188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AF47516-6427-AE52-3E94-3880AAC327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1600"/>
            <a:ext cx="9144000" cy="4504099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43FC1FDF-5056-8DB5-A6F5-290AED2BE126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29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23527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E703DBF-7898-9336-723B-2F809637D2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912"/>
            <a:ext cx="9144000" cy="4450057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109404CC-0AF8-C853-FC4F-27720B29F897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30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91660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4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D180F59-3335-C3EC-1D79-0E5A871395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08" y="1297841"/>
            <a:ext cx="3988424" cy="127629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A6FFA7D-9D9B-17B4-CD24-4828447CCD6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295454"/>
            <a:ext cx="3988424" cy="127629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5EBEB48E-F2B1-0122-0845-C22B335E6E6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788" y="2972792"/>
            <a:ext cx="3988424" cy="1276296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6BC96B45-A024-EFD4-B9F2-9F6AAF7FAF83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31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75822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Fine-tuning : </a:t>
            </a:r>
            <a:r>
              <a:rPr lang="en-US" sz="1800" b="1" kern="1200" dirty="0" err="1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brique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4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584B98D-D529-FAF8-F5FB-C95E0E062B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5319"/>
            <a:ext cx="9144000" cy="2672862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3AF77DBF-EF2D-CBDC-63B0-C74C7F7323A0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32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97077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err="1"/>
              <a:t>Similarité</a:t>
            </a:r>
            <a:r>
              <a:rPr lang="en-US" sz="2000" b="1" dirty="0"/>
              <a:t> : </a:t>
            </a:r>
            <a:r>
              <a:rPr lang="en-US" sz="2000" b="1" dirty="0" err="1"/>
              <a:t>brique</a:t>
            </a:r>
            <a:r>
              <a:rPr lang="en-US" sz="2000" b="1" dirty="0"/>
              <a:t> 4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1155839-836E-F757-1A4E-BAAE1DA183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041" y="998105"/>
            <a:ext cx="5663918" cy="3511629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9B237FF3-852E-E8D8-E7BE-FB45474FE4D7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33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724958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8A9BDC7-CA3A-99BB-8ED6-C1CDE51AA7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0921"/>
            <a:ext cx="9144000" cy="4368297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48CBFB06-1EBC-99CE-5E1D-944D7238473A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34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30660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FE278BF-E33C-B004-772B-74571731C5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0040"/>
            <a:ext cx="9144000" cy="4315900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F03B62EE-0EC7-B7C3-77CD-4072EC3A62BB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35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761169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F4D63AC-35D6-39B5-3D43-D3ABF64DF7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500"/>
            <a:ext cx="9144000" cy="4504099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DDB83850-BC0D-D967-029B-11E39F598C38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36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03621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ALL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8D7ACA4-C4F8-0BE7-9EB0-BE228CEB8D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63" y="1139353"/>
            <a:ext cx="4061759" cy="129976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49A93C5-4A38-A960-F025-4CD59DF2F99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346" y="1152916"/>
            <a:ext cx="4160759" cy="133144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7E2650E-5542-5806-EB02-F9D83828598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261" y="2946216"/>
            <a:ext cx="4061759" cy="1299763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E46B4C25-E53D-48D9-603F-6B6102DFD414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37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27872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Fine-tuning : </a:t>
            </a:r>
            <a:r>
              <a:rPr lang="en-US" sz="1800" b="1" kern="1200" dirty="0" err="1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brique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ALL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1134F12-5C44-30F0-D6B9-D3DD5DBF5E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5319"/>
            <a:ext cx="9144000" cy="2672862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C8EB409F-A7BA-DF47-8B4B-830D83DC524D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38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4807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err="1"/>
              <a:t>Similarité</a:t>
            </a:r>
            <a:r>
              <a:rPr lang="en-US" sz="2000" b="1" dirty="0"/>
              <a:t> : </a:t>
            </a:r>
            <a:r>
              <a:rPr lang="en-US" sz="2000" b="1" dirty="0" err="1"/>
              <a:t>brique</a:t>
            </a:r>
            <a:r>
              <a:rPr lang="en-US" sz="2000" b="1" dirty="0"/>
              <a:t> ALL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6DC2CB6-B707-5B0F-C5E7-616BD4DBBF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028" y="848663"/>
            <a:ext cx="6113944" cy="3790645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35235E7F-28A0-0080-C89E-032FA67B14D4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39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85892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711F783-3B90-F37F-E43F-C73232942C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640"/>
            <a:ext cx="9144000" cy="4504099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779A5131-B453-9182-BB96-467238049532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40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190053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622F553-C1E8-2241-FF2A-0CCF6DC439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91"/>
            <a:ext cx="9144000" cy="4768158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051592CF-A104-0A1E-E7D8-9F55225E116A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41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26853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D0563F8-BDF8-0A10-9C51-2861858350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212"/>
            <a:ext cx="9144000" cy="4632356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FF45419E-3412-378D-F76B-CB869391CADA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42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961400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FC3C636-695D-D15D-D203-AE9D45F89F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095" y="705347"/>
            <a:ext cx="5078502" cy="3917701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4923FFDE-8FC5-5545-752B-75E1E147B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3812"/>
            <a:ext cx="7886700" cy="517248"/>
          </a:xfrm>
        </p:spPr>
        <p:txBody>
          <a:bodyPr/>
          <a:lstStyle/>
          <a:p>
            <a:r>
              <a:rPr lang="en-US" sz="2000" b="1" dirty="0"/>
              <a:t>Architecture du Graph RAG</a:t>
            </a:r>
            <a:endParaRPr lang="fr-FR" sz="2000" b="1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0B751BD5-420F-A07C-FA3B-0CD0423F1E87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43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90963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err="1"/>
              <a:t>Contenu</a:t>
            </a:r>
            <a:r>
              <a:rPr lang="en-US" sz="2000" b="1" dirty="0"/>
              <a:t> des bases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E73B700-3A8F-154C-FCB3-2B8613D2F6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961" y="930942"/>
            <a:ext cx="6138770" cy="3645955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87DF62D8-1F50-426D-EBFE-47304D071A89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44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97625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err="1"/>
              <a:t>Contenu</a:t>
            </a:r>
            <a:r>
              <a:rPr lang="en-US" sz="2000" b="1" dirty="0"/>
              <a:t> des bases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2BA6EFB-1D36-6983-C49E-F3142D4791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" y="1278425"/>
            <a:ext cx="8854440" cy="2674097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15D4B068-D47D-B8D6-3382-B5C2E03FC52E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45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914618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err="1"/>
              <a:t>Contenu</a:t>
            </a:r>
            <a:r>
              <a:rPr lang="en-US" sz="2000" b="1" dirty="0"/>
              <a:t> des bases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892C067-36FC-AF8A-0C09-EEA334E6A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70" y="969280"/>
            <a:ext cx="7764780" cy="3513808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88F02716-C70C-6DCB-355E-F0530B895B53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46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614067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err="1"/>
              <a:t>Contenu</a:t>
            </a:r>
            <a:r>
              <a:rPr lang="en-US" sz="2000" b="1" dirty="0"/>
              <a:t> des bases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0B0ABDA-A87C-21F6-A589-9FB87D3FA9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1123101"/>
            <a:ext cx="7170420" cy="3350010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4AF7E059-973F-B266-60F4-B26ACF144BA1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47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97304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err="1"/>
              <a:t>Contenu</a:t>
            </a:r>
            <a:r>
              <a:rPr lang="en-US" sz="2000" b="1" dirty="0"/>
              <a:t> des bases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318CE7A-0F0D-DCA8-3AAD-A9740AE42E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6364"/>
            <a:ext cx="9144000" cy="2510771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24FA4EB4-0725-35B4-AA8F-44B03960D801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48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7819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err="1"/>
              <a:t>Contenu</a:t>
            </a:r>
            <a:r>
              <a:rPr lang="en-US" sz="2000" b="1" dirty="0"/>
              <a:t> des bases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85E0D8A-1F72-FA44-E2D1-2AC2841029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530" y="1243755"/>
            <a:ext cx="6758940" cy="3138728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F6BDE25A-F572-1084-3C18-1C8457FEB96A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49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33727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err="1"/>
              <a:t>Contenu</a:t>
            </a:r>
            <a:r>
              <a:rPr lang="en-US" sz="2000" b="1" dirty="0"/>
              <a:t> des bases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EF60301-E001-2F66-C5E0-26C6D4C64C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12" y="1120463"/>
            <a:ext cx="8031480" cy="3280833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18DBC3DC-BDE0-2204-0DB4-72EA6C2A87D9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50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373622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Document et </a:t>
            </a:r>
            <a:r>
              <a:rPr lang="en-US" sz="2000" b="1" dirty="0" err="1"/>
              <a:t>metadonnees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26AA7D0-39D8-1A11-ABFB-3EE4B02578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914050"/>
            <a:ext cx="5715000" cy="15448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3B32A16-DA73-D1AA-8A4E-0A01506966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2520148"/>
            <a:ext cx="5890260" cy="2091712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46659483-1DD6-6971-CE59-6E5756B79D78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51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609761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Document et </a:t>
            </a:r>
            <a:r>
              <a:rPr lang="en-US" sz="2000" b="1" dirty="0" err="1"/>
              <a:t>metadonnees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6639FB6-3E6D-130A-0850-E5B0B1E9CC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235693"/>
            <a:ext cx="8191500" cy="2964641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9CDD5076-AEF4-A1F8-3F1E-53B762CFFFA0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52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225507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Document et </a:t>
            </a:r>
            <a:r>
              <a:rPr lang="en-US" sz="2000" b="1" dirty="0" err="1"/>
              <a:t>metadonnees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17E8AF4-291E-A996-C601-49257BAEF9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401" y="963494"/>
            <a:ext cx="5672203" cy="112004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E0975C2-E18B-7365-B8A2-4BB9B209EF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099" y="2133300"/>
            <a:ext cx="5473065" cy="2509063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3B6B5D2F-95E5-CDEA-70CA-364991E6CD90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53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713182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Retriever de base du thésaurus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78BA5EB-0973-F537-D04F-3280BF9634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592" y="1061705"/>
            <a:ext cx="5933101" cy="3392186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79C1DD34-178F-AD97-A0F6-58D8BFC004D6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54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964744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Retriever de base du thésaurus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E0961E8-6D4E-6B55-3448-A1685F84E9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064" y="901722"/>
            <a:ext cx="6648564" cy="3632583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2CC877D8-A2F5-46E4-8823-41CDBFC26A17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55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27148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Retriever de base du thésaurus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333FFA5-3ADD-05D1-4A04-2D6897B601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660" y="928989"/>
            <a:ext cx="6347583" cy="3649860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C9B7BD65-20DF-2407-1474-B8E7AADEAAE8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56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323388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Taille des données 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BE8CB4E-75EF-3A9C-E0D0-2B3A09213D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69" y="1302628"/>
            <a:ext cx="4545573" cy="263375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9E615C3-8ADC-244B-BC65-25D895AD54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962" y="1438701"/>
            <a:ext cx="4250246" cy="2236241"/>
          </a:xfrm>
          <a:prstGeom prst="rect">
            <a:avLst/>
          </a:prstGeom>
        </p:spPr>
      </p:pic>
      <p:sp>
        <p:nvSpPr>
          <p:cNvPr id="12" name="Ellipse 11">
            <a:extLst>
              <a:ext uri="{FF2B5EF4-FFF2-40B4-BE49-F238E27FC236}">
                <a16:creationId xmlns:a16="http://schemas.microsoft.com/office/drawing/2014/main" id="{296E5C6B-3A8F-DBDD-BCCC-74825AA2FDE2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57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56096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Choix du </a:t>
            </a:r>
            <a:r>
              <a:rPr lang="en-US" sz="2000" b="1" dirty="0" err="1"/>
              <a:t>poids</a:t>
            </a:r>
            <a:r>
              <a:rPr lang="en-US" sz="2000" b="1" dirty="0"/>
              <a:t> W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4DA6515-F905-EA63-6F70-4E799635D4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512" y="1019738"/>
            <a:ext cx="4696427" cy="230140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118D5CE-C572-471D-9B95-3E1D53F832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00" y="1019738"/>
            <a:ext cx="3580401" cy="2641740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B3C57409-2DA1-2EA2-7A3B-1295B497AE9A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58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995985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Choix du </a:t>
            </a:r>
            <a:r>
              <a:rPr lang="en-US" sz="2000" b="1" dirty="0" err="1"/>
              <a:t>poids</a:t>
            </a:r>
            <a:r>
              <a:rPr lang="en-US" sz="2000" b="1" dirty="0"/>
              <a:t> W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75B875C-A184-4A19-483B-FE29A92F27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449" y="999412"/>
            <a:ext cx="6073294" cy="3509014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28F7C96B-2AD3-0E4C-6FCC-D51A5035D36A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59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670686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Évaluation de la base vectorielle des concepts sans </a:t>
            </a:r>
            <a:r>
              <a:rPr lang="fr-FR" sz="2000" b="1" dirty="0" err="1"/>
              <a:t>reranking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4039094-796B-07D1-39CC-C3C484AF9F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61" y="848663"/>
            <a:ext cx="3832860" cy="196225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9780AEB-7E5B-A51B-08BB-4CEFC327F0F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41" y="2833781"/>
            <a:ext cx="3129699" cy="180827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67C8F0B6-4604-3298-C176-020F2AFD729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692" y="1002287"/>
            <a:ext cx="4765367" cy="3138926"/>
          </a:xfrm>
          <a:prstGeom prst="rect">
            <a:avLst/>
          </a:prstGeom>
        </p:spPr>
      </p:pic>
      <p:sp>
        <p:nvSpPr>
          <p:cNvPr id="14" name="Ellipse 13">
            <a:extLst>
              <a:ext uri="{FF2B5EF4-FFF2-40B4-BE49-F238E27FC236}">
                <a16:creationId xmlns:a16="http://schemas.microsoft.com/office/drawing/2014/main" id="{E73212DF-4DAE-9777-FB23-B8DEE5D58A17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60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57782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Évaluation de la base vectorielle des concepts sans </a:t>
            </a:r>
            <a:r>
              <a:rPr lang="fr-FR" sz="2000" b="1" dirty="0" err="1"/>
              <a:t>reranking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CB9F6D8-B762-545F-A883-007BDFBDBF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82" y="964120"/>
            <a:ext cx="3533223" cy="204141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60130E3-DBC4-88AF-96E2-BB1B1A8467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035" y="800163"/>
            <a:ext cx="4471319" cy="201209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33C8CFF-7FE8-6EC6-4C0E-93BC7589E87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692" y="2812257"/>
            <a:ext cx="3276560" cy="1893124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D98198FA-65E3-FBA6-86F4-3560897DFF48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61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7694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Évaluation de la base vectorielle des concepts avec </a:t>
            </a:r>
            <a:r>
              <a:rPr lang="fr-FR" sz="2000" b="1" dirty="0" err="1"/>
              <a:t>reranking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70CDB1E-B7A1-E930-E8AB-C45FD48C6C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2466"/>
            <a:ext cx="3589025" cy="183742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86EF7AE-A5E6-F15A-9549-CDB59F07345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19891"/>
            <a:ext cx="3533223" cy="204141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925280A-D0F0-CA64-AB95-1F5FBF352B2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869" y="1078764"/>
            <a:ext cx="4882487" cy="3216073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C27D3FC1-5F12-F94E-5BB8-C4EF2EF198A7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62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06744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Évaluation de la base vectorielle des concepts avec </a:t>
            </a:r>
            <a:r>
              <a:rPr lang="fr-FR" sz="2000" b="1" dirty="0" err="1"/>
              <a:t>reranking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E8603E3-A11B-55DD-EA79-4B78ED85BB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15" y="937390"/>
            <a:ext cx="3381840" cy="195395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BB57822-C74E-E210-BBE2-5997EFAB0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750" y="848663"/>
            <a:ext cx="4665530" cy="2099489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37F95DC-8058-ADAD-6794-0D6C136A73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750" y="2686969"/>
            <a:ext cx="3406161" cy="1968004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65F858AB-0211-5AA3-2338-B75FBDD05712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63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722299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Évaluation de la base vectorielle des thésaurus avec w = 0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8863DC7-5509-EFA3-5BCF-AD466653BB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8695"/>
            <a:ext cx="3604259" cy="184522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264221C-DA87-AD79-6A67-5B4F9786F0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85" y="2800350"/>
            <a:ext cx="3166080" cy="182929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589C298-D431-C9E2-91B1-D7AF1174D4E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043" y="908695"/>
            <a:ext cx="3934307" cy="3667984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58DB0C25-BB9E-C9BA-5A6D-8D7B220AB13A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64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77292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Évaluation de la base vectorielle des thésaurus avec w = 0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A19DA33-60C2-8ACF-59D7-90BF48292B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93" y="973511"/>
            <a:ext cx="3177048" cy="183562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45E37E9-6A42-55BC-F04F-CA8B67F053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180" y="973511"/>
            <a:ext cx="4152900" cy="186880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9175CA8-1BFE-D258-EBDB-21E03578016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180" y="2842316"/>
            <a:ext cx="3052171" cy="1763477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422122FD-F5A2-FBCF-39A0-4839032A9B9F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65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86119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Évaluation de la base vectorielle des thésaurus avec w = 1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F279534-7FF0-28C7-AE96-A07E83FB20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9" y="792533"/>
            <a:ext cx="3783868" cy="193717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1CEAC2B-ECB0-A5E9-1B97-C489081ABC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3" y="2729709"/>
            <a:ext cx="3439651" cy="198735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8928107-F662-EC3D-A898-3F2734648B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717" y="878732"/>
            <a:ext cx="3783868" cy="3527729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4E0C620C-AF05-8F7D-2AEA-AC339123B0ED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66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820247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Évaluation de la base vectorielle des thésaurus avec w = 1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C6B9511-C698-465E-DAAB-D856E1ADF7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9" y="863438"/>
            <a:ext cx="3533222" cy="204141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DFAF7D6-A294-C462-2AB8-31C3FF8958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346" y="741825"/>
            <a:ext cx="4471319" cy="201209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72E7E6AB-A84D-472E-5D33-155D4F2C86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346" y="2747153"/>
            <a:ext cx="3345180" cy="1932771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725D54BA-B0C2-7A85-4770-DF7727D0D40A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67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39396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Évaluation de la base vectorielle des thésaurus avec w = 0.4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B041C77-FD81-FAF0-B94D-921A95791D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950960"/>
            <a:ext cx="3649272" cy="186826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D32274B-4C1B-25D4-CAE7-17B1A08E324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076175"/>
            <a:ext cx="2722546" cy="157302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5B5FD1D-8747-213C-58DB-B73184434B3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762" y="1106894"/>
            <a:ext cx="3533223" cy="3294051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2729CA6E-BD27-7798-C126-F45FD01FE6D1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68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84878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Évaluation de la base vectorielle des thésaurus avec w = 0.4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501CAC6-5123-762A-2C3F-6E71D4C122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885297"/>
            <a:ext cx="3275034" cy="189224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6F10BFF-2158-6576-6284-70186D8A3B7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446" y="885297"/>
            <a:ext cx="3747674" cy="168645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D9ACDC4-1E21-C463-E200-DC4FD389480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446" y="2686929"/>
            <a:ext cx="3006758" cy="1737238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C659CFD9-5F23-E519-6100-3AE242C2A032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69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05610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Thème Office">
  <a:themeElements>
    <a:clrScheme name="LIRIS_2015">
      <a:dk1>
        <a:srgbClr val="184A7C"/>
      </a:dk1>
      <a:lt1>
        <a:sysClr val="window" lastClr="FFFFFF"/>
      </a:lt1>
      <a:dk2>
        <a:srgbClr val="727CA1"/>
      </a:dk2>
      <a:lt2>
        <a:srgbClr val="EEECE1"/>
      </a:lt2>
      <a:accent1>
        <a:srgbClr val="B5397D"/>
      </a:accent1>
      <a:accent2>
        <a:srgbClr val="B8B90C"/>
      </a:accent2>
      <a:accent3>
        <a:srgbClr val="9571AB"/>
      </a:accent3>
      <a:accent4>
        <a:srgbClr val="A0C7E7"/>
      </a:accent4>
      <a:accent5>
        <a:srgbClr val="368AD2"/>
      </a:accent5>
      <a:accent6>
        <a:srgbClr val="FF8D40"/>
      </a:accent6>
      <a:hlink>
        <a:srgbClr val="B5397D"/>
      </a:hlink>
      <a:folHlink>
        <a:srgbClr val="800080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4" id="{7D53479B-BFB6-4E85-BA88-194112626D1D}" vid="{7CEA4CB0-7113-45A9-A115-E97C542A1D5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theme_LIRIS_16_9e_2024</Template>
  <TotalTime>0</TotalTime>
  <Words>408</Words>
  <Application>Microsoft Office PowerPoint</Application>
  <PresentationFormat>Affichage à l'écran (16:9)</PresentationFormat>
  <Paragraphs>138</Paragraphs>
  <Slides>66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66</vt:i4>
      </vt:variant>
    </vt:vector>
  </HeadingPairs>
  <TitlesOfParts>
    <vt:vector size="70" baseType="lpstr">
      <vt:lpstr>Arial</vt:lpstr>
      <vt:lpstr>Calibri</vt:lpstr>
      <vt:lpstr>Times New Roman</vt:lpstr>
      <vt:lpstr>Thème Office</vt:lpstr>
      <vt:lpstr>Agent TAC</vt:lpstr>
      <vt:lpstr>Plan de la présentation</vt:lpstr>
      <vt:lpstr>Fine-tuning </vt:lpstr>
      <vt:lpstr>Fine-tuning : brique 0</vt:lpstr>
      <vt:lpstr>Fine-tuning : brique 0</vt:lpstr>
      <vt:lpstr>Similarité : brique 0</vt:lpstr>
      <vt:lpstr>Fine-tuning : brique 0</vt:lpstr>
      <vt:lpstr>Fine-tuning : brique 0</vt:lpstr>
      <vt:lpstr>Fine-tuning : brique 0</vt:lpstr>
      <vt:lpstr>Fine-tuning : brique 1</vt:lpstr>
      <vt:lpstr>Fine-tuning : brique 1</vt:lpstr>
      <vt:lpstr>Similarité : brique 1</vt:lpstr>
      <vt:lpstr>Fine-tuning : brique 0</vt:lpstr>
      <vt:lpstr>Fine-tuning : brique 0</vt:lpstr>
      <vt:lpstr>Fine-tuning : brique 0</vt:lpstr>
      <vt:lpstr>Fine-tuning : brique 2</vt:lpstr>
      <vt:lpstr>Fine-tuning : brique 2</vt:lpstr>
      <vt:lpstr>Similarité : brique 2</vt:lpstr>
      <vt:lpstr>Fine-tuning : brique 0</vt:lpstr>
      <vt:lpstr>Fine-tuning : brique 0</vt:lpstr>
      <vt:lpstr>Fine-tuning : brique 0</vt:lpstr>
      <vt:lpstr>Fine-tuning : brique 3</vt:lpstr>
      <vt:lpstr>Fine-tuning : brique 3</vt:lpstr>
      <vt:lpstr>Similarité : brique 3</vt:lpstr>
      <vt:lpstr>Fine-tuning : brique 0</vt:lpstr>
      <vt:lpstr>Fine-tuning : brique 0</vt:lpstr>
      <vt:lpstr>Fine-tuning : brique 0</vt:lpstr>
      <vt:lpstr>Fine-tuning : brique 4</vt:lpstr>
      <vt:lpstr>Fine-tuning : brique 4</vt:lpstr>
      <vt:lpstr>Similarité : brique 4</vt:lpstr>
      <vt:lpstr>Fine-tuning : brique 0</vt:lpstr>
      <vt:lpstr>Fine-tuning : brique 0</vt:lpstr>
      <vt:lpstr>Fine-tuning : brique 0</vt:lpstr>
      <vt:lpstr>Fine-tuning : brique ALL</vt:lpstr>
      <vt:lpstr>Fine-tuning : brique ALL</vt:lpstr>
      <vt:lpstr>Similarité : brique ALL</vt:lpstr>
      <vt:lpstr>Fine-tuning : brique 0</vt:lpstr>
      <vt:lpstr>Fine-tuning : brique 0</vt:lpstr>
      <vt:lpstr>Fine-tuning : brique 0</vt:lpstr>
      <vt:lpstr>Architecture du Graph RAG</vt:lpstr>
      <vt:lpstr>Contenu des bases</vt:lpstr>
      <vt:lpstr>Contenu des bases</vt:lpstr>
      <vt:lpstr>Contenu des bases</vt:lpstr>
      <vt:lpstr>Contenu des bases</vt:lpstr>
      <vt:lpstr>Contenu des bases</vt:lpstr>
      <vt:lpstr>Contenu des bases</vt:lpstr>
      <vt:lpstr>Contenu des bases</vt:lpstr>
      <vt:lpstr>Document et metadonnees</vt:lpstr>
      <vt:lpstr>Document et metadonnees</vt:lpstr>
      <vt:lpstr>Document et metadonnees</vt:lpstr>
      <vt:lpstr>Retriever de base du thésaurus</vt:lpstr>
      <vt:lpstr>Retriever de base du thésaurus</vt:lpstr>
      <vt:lpstr>Retriever de base du thésaurus</vt:lpstr>
      <vt:lpstr>Taille des données </vt:lpstr>
      <vt:lpstr>Choix du poids W</vt:lpstr>
      <vt:lpstr>Choix du poids W</vt:lpstr>
      <vt:lpstr>Évaluation de la base vectorielle des concepts sans reranking</vt:lpstr>
      <vt:lpstr>Évaluation de la base vectorielle des concepts sans reranking</vt:lpstr>
      <vt:lpstr>Évaluation de la base vectorielle des concepts avec reranking</vt:lpstr>
      <vt:lpstr>Évaluation de la base vectorielle des concepts avec reranking</vt:lpstr>
      <vt:lpstr>Évaluation de la base vectorielle des thésaurus avec w = 0</vt:lpstr>
      <vt:lpstr>Évaluation de la base vectorielle des thésaurus avec w = 0</vt:lpstr>
      <vt:lpstr>Évaluation de la base vectorielle des thésaurus avec w = 1</vt:lpstr>
      <vt:lpstr>Évaluation de la base vectorielle des thésaurus avec w = 1</vt:lpstr>
      <vt:lpstr>Évaluation de la base vectorielle des thésaurus avec w = 0.4</vt:lpstr>
      <vt:lpstr>Évaluation de la base vectorielle des thésaurus avec w = 0.4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Asri Rida</dc:creator>
  <cp:lastModifiedBy>Asri Rida</cp:lastModifiedBy>
  <cp:revision>134</cp:revision>
  <dcterms:created xsi:type="dcterms:W3CDTF">2026-05-20T12:58:41Z</dcterms:created>
  <dcterms:modified xsi:type="dcterms:W3CDTF">2026-10-09T15:09:24Z</dcterms:modified>
</cp:coreProperties>
</file>
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85" r:id="rId5"/>
    <p:sldId id="286" r:id="rId6"/>
    <p:sldId id="287" r:id="rId7"/>
    <p:sldId id="288" r:id="rId8"/>
    <p:sldId id="289" r:id="rId9"/>
    <p:sldId id="270" r:id="rId10"/>
    <p:sldId id="268" r:id="rId11"/>
    <p:sldId id="269" r:id="rId12"/>
    <p:sldId id="290" r:id="rId13"/>
    <p:sldId id="263" r:id="rId14"/>
    <p:sldId id="282" r:id="rId15"/>
    <p:sldId id="284" r:id="rId16"/>
    <p:sldId id="291" r:id="rId17"/>
    <p:sldId id="283" r:id="rId18"/>
    <p:sldId id="292" r:id="rId19"/>
    <p:sldId id="296" r:id="rId20"/>
    <p:sldId id="293" r:id="rId21"/>
    <p:sldId id="294" r:id="rId22"/>
    <p:sldId id="295" r:id="rId23"/>
    <p:sldId id="297" r:id="rId24"/>
    <p:sldId id="298" r:id="rId25"/>
    <p:sldId id="299" r:id="rId26"/>
    <p:sldId id="300" r:id="rId27"/>
    <p:sldId id="301" r:id="rId28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08/09/2026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7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Service LLM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09/07/2026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1 - Approche </a:t>
            </a:r>
            <a:r>
              <a:rPr lang="fr-FR" sz="2000" b="1" dirty="0">
                <a:solidFill>
                  <a:schemeClr val="tx1"/>
                </a:solidFill>
                <a:latin typeface="Calibri (Corps)"/>
              </a:rPr>
              <a:t>fine-tuning :</a:t>
            </a:r>
            <a:r>
              <a:rPr lang="fr-FR" sz="2000" b="1" dirty="0"/>
              <a:t> Construction du jeu d'entraînement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155235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</a:t>
            </a:r>
            <a:r>
              <a:rPr lang="fr-FR" sz="2000" b="1" dirty="0">
                <a:solidFill>
                  <a:schemeClr val="tx1"/>
                </a:solidFill>
                <a:latin typeface="Calibri (Corps)"/>
              </a:rPr>
              <a:t>Évaluation pour le fine-tuning</a:t>
            </a:r>
            <a:endParaRPr lang="fr-FR" sz="2000" b="1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206959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3 – Approche </a:t>
            </a:r>
            <a:r>
              <a:rPr lang="fr-FR" sz="2000" b="1" dirty="0" err="1"/>
              <a:t>GraphRAG</a:t>
            </a:r>
            <a:r>
              <a:rPr lang="fr-FR" sz="2000" b="1" dirty="0"/>
              <a:t> : </a:t>
            </a:r>
            <a:r>
              <a:rPr lang="en-US" sz="2000" b="1" dirty="0"/>
              <a:t>Architecture</a:t>
            </a:r>
            <a:endParaRPr lang="fr-FR" sz="2000" b="1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90065" y="2606898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4 –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Approche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GraphRAG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Évaluation de la base vectorielle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par fine-tuning : Construction du jeu d'entraînement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0F51A40-66E1-0777-B41B-4B37F990F88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Génération</a:t>
            </a:r>
            <a:r>
              <a:rPr lang="en-US" sz="1600" b="1" dirty="0"/>
              <a:t> de concepts :</a:t>
            </a:r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C21824-6AEE-27DE-C69A-EF01BBE898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38" y="2003698"/>
            <a:ext cx="2648742" cy="37101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0BAF11B0-576A-46E9-9FC4-D21E2270C40D}"/>
              </a:ext>
            </a:extLst>
          </p:cNvPr>
          <p:cNvSpPr txBox="1">
            <a:spLocks/>
          </p:cNvSpPr>
          <p:nvPr/>
        </p:nvSpPr>
        <p:spPr>
          <a:xfrm>
            <a:off x="677838" y="1332798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Question </a:t>
            </a:r>
            <a:r>
              <a:rPr lang="en-US" sz="1050" b="1" dirty="0"/>
              <a:t>:</a:t>
            </a:r>
            <a:endParaRPr lang="fr-FR" sz="1050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F331959-1702-616F-F2F1-B5CA40A785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46" y="1773611"/>
            <a:ext cx="4135272" cy="789292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3873D28B-DEBD-B83C-5684-6FA90C217FDF}"/>
              </a:ext>
            </a:extLst>
          </p:cNvPr>
          <p:cNvSpPr/>
          <p:nvPr/>
        </p:nvSpPr>
        <p:spPr>
          <a:xfrm>
            <a:off x="3612107" y="2138149"/>
            <a:ext cx="659642" cy="60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9BF92A23-D19D-A707-FF1F-1C180C3CDF48}"/>
              </a:ext>
            </a:extLst>
          </p:cNvPr>
          <p:cNvSpPr txBox="1">
            <a:spLocks/>
          </p:cNvSpPr>
          <p:nvPr/>
        </p:nvSpPr>
        <p:spPr>
          <a:xfrm>
            <a:off x="677838" y="256290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Réponse</a:t>
            </a:r>
            <a:r>
              <a:rPr lang="en-US" sz="1050" b="1" dirty="0"/>
              <a:t> :</a:t>
            </a:r>
            <a:endParaRPr lang="fr-FR" sz="1050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9632A93-E9E0-4ADB-66D0-8B67C4199AC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38" y="3077104"/>
            <a:ext cx="4380931" cy="132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par fine-tuning : Construction du jeu d'entraînement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0F51A40-66E1-0777-B41B-4B37F990F88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Génération</a:t>
            </a:r>
            <a:r>
              <a:rPr lang="en-US" sz="1600" b="1" dirty="0"/>
              <a:t> de concepts :</a:t>
            </a:r>
            <a:endParaRPr lang="fr-FR" sz="16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BAF11B0-576A-46E9-9FC4-D21E2270C40D}"/>
              </a:ext>
            </a:extLst>
          </p:cNvPr>
          <p:cNvSpPr txBox="1">
            <a:spLocks/>
          </p:cNvSpPr>
          <p:nvPr/>
        </p:nvSpPr>
        <p:spPr>
          <a:xfrm>
            <a:off x="677838" y="1332798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Question </a:t>
            </a:r>
            <a:r>
              <a:rPr lang="en-US" sz="1050" b="1" dirty="0"/>
              <a:t>:</a:t>
            </a:r>
            <a:endParaRPr lang="fr-FR" sz="1050" b="1" dirty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3873D28B-DEBD-B83C-5684-6FA90C217FDF}"/>
              </a:ext>
            </a:extLst>
          </p:cNvPr>
          <p:cNvSpPr/>
          <p:nvPr/>
        </p:nvSpPr>
        <p:spPr>
          <a:xfrm>
            <a:off x="4194411" y="2091063"/>
            <a:ext cx="659642" cy="60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9BF92A23-D19D-A707-FF1F-1C180C3CDF48}"/>
              </a:ext>
            </a:extLst>
          </p:cNvPr>
          <p:cNvSpPr txBox="1">
            <a:spLocks/>
          </p:cNvSpPr>
          <p:nvPr/>
        </p:nvSpPr>
        <p:spPr>
          <a:xfrm>
            <a:off x="677838" y="256290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Réponse</a:t>
            </a:r>
            <a:r>
              <a:rPr lang="en-US" sz="1050" b="1" dirty="0"/>
              <a:t> :</a:t>
            </a:r>
            <a:endParaRPr lang="fr-FR" sz="1050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9632A93-E9E0-4ADB-66D0-8B67C4199A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38" y="3077104"/>
            <a:ext cx="4380931" cy="13280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BC549F9-771E-E688-D2F1-BC9076FDEC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38" y="1780557"/>
            <a:ext cx="3225336" cy="73199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C51A272-31BC-6FB5-9C63-7F7B3AC523D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290" y="1648449"/>
            <a:ext cx="3857767" cy="9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9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par fine-tuning : Construction du jeu d'entraînement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0F51A40-66E1-0777-B41B-4B37F990F88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Génération</a:t>
            </a:r>
            <a:r>
              <a:rPr lang="en-US" sz="1600" b="1" dirty="0"/>
              <a:t> de concepts :</a:t>
            </a:r>
            <a:endParaRPr lang="fr-FR" sz="16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BAF11B0-576A-46E9-9FC4-D21E2270C40D}"/>
              </a:ext>
            </a:extLst>
          </p:cNvPr>
          <p:cNvSpPr txBox="1">
            <a:spLocks/>
          </p:cNvSpPr>
          <p:nvPr/>
        </p:nvSpPr>
        <p:spPr>
          <a:xfrm>
            <a:off x="677838" y="1332798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Question </a:t>
            </a:r>
            <a:r>
              <a:rPr lang="en-US" sz="1050" b="1" dirty="0"/>
              <a:t>:</a:t>
            </a:r>
            <a:endParaRPr lang="fr-FR" sz="1050" b="1" dirty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3873D28B-DEBD-B83C-5684-6FA90C217FDF}"/>
              </a:ext>
            </a:extLst>
          </p:cNvPr>
          <p:cNvSpPr/>
          <p:nvPr/>
        </p:nvSpPr>
        <p:spPr>
          <a:xfrm>
            <a:off x="3982871" y="2189004"/>
            <a:ext cx="659642" cy="60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9BF92A23-D19D-A707-FF1F-1C180C3CDF48}"/>
              </a:ext>
            </a:extLst>
          </p:cNvPr>
          <p:cNvSpPr txBox="1">
            <a:spLocks/>
          </p:cNvSpPr>
          <p:nvPr/>
        </p:nvSpPr>
        <p:spPr>
          <a:xfrm>
            <a:off x="677838" y="256290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Réponse</a:t>
            </a:r>
            <a:r>
              <a:rPr lang="en-US" sz="1050" b="1" dirty="0"/>
              <a:t> :</a:t>
            </a:r>
            <a:endParaRPr lang="fr-FR" sz="1050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9632A93-E9E0-4ADB-66D0-8B67C4199A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8" y="3089553"/>
            <a:ext cx="4380931" cy="13280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D8432B4-67F1-0D6F-DFC8-CF718CF999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8" y="1745171"/>
            <a:ext cx="3053262" cy="92030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20A258E-56F6-1A53-02CF-8C2095039D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406" y="1626772"/>
            <a:ext cx="3407390" cy="118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1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par fine-tuning : Construction du jeu d'entraînement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0F51A40-66E1-0777-B41B-4B37F990F88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Génération</a:t>
            </a:r>
            <a:r>
              <a:rPr lang="en-US" sz="1600" b="1" dirty="0"/>
              <a:t> de concepts :</a:t>
            </a:r>
            <a:endParaRPr lang="fr-FR" sz="16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BAF11B0-576A-46E9-9FC4-D21E2270C40D}"/>
              </a:ext>
            </a:extLst>
          </p:cNvPr>
          <p:cNvSpPr txBox="1">
            <a:spLocks/>
          </p:cNvSpPr>
          <p:nvPr/>
        </p:nvSpPr>
        <p:spPr>
          <a:xfrm>
            <a:off x="677838" y="1332798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Question </a:t>
            </a:r>
            <a:r>
              <a:rPr lang="en-US" sz="1050" b="1" dirty="0"/>
              <a:t>:</a:t>
            </a:r>
            <a:endParaRPr lang="fr-FR" sz="1050" b="1" dirty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3873D28B-DEBD-B83C-5684-6FA90C217FDF}"/>
              </a:ext>
            </a:extLst>
          </p:cNvPr>
          <p:cNvSpPr/>
          <p:nvPr/>
        </p:nvSpPr>
        <p:spPr>
          <a:xfrm>
            <a:off x="3982871" y="2189004"/>
            <a:ext cx="659642" cy="60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9BF92A23-D19D-A707-FF1F-1C180C3CDF48}"/>
              </a:ext>
            </a:extLst>
          </p:cNvPr>
          <p:cNvSpPr txBox="1">
            <a:spLocks/>
          </p:cNvSpPr>
          <p:nvPr/>
        </p:nvSpPr>
        <p:spPr>
          <a:xfrm>
            <a:off x="677838" y="256290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Réponse</a:t>
            </a:r>
            <a:r>
              <a:rPr lang="en-US" sz="1050" b="1" dirty="0"/>
              <a:t> :</a:t>
            </a:r>
            <a:endParaRPr lang="fr-FR" sz="1050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9632A93-E9E0-4ADB-66D0-8B67C4199A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8" y="3089553"/>
            <a:ext cx="4380931" cy="132805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4140B63-D364-3F40-0ED1-3C9FEC209A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8" y="1723223"/>
            <a:ext cx="3090594" cy="93156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F65D4EC-FE9D-AA0A-296F-21DF9286D4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171" y="1425701"/>
            <a:ext cx="3447145" cy="158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9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par fine-tuning : Construction du jeu d'entraînement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0F51A40-66E1-0777-B41B-4B37F990F88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Génération</a:t>
            </a:r>
            <a:r>
              <a:rPr lang="en-US" sz="1600" b="1" dirty="0"/>
              <a:t> de concepts :</a:t>
            </a:r>
            <a:endParaRPr lang="fr-FR" sz="16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BAF11B0-576A-46E9-9FC4-D21E2270C40D}"/>
              </a:ext>
            </a:extLst>
          </p:cNvPr>
          <p:cNvSpPr txBox="1">
            <a:spLocks/>
          </p:cNvSpPr>
          <p:nvPr/>
        </p:nvSpPr>
        <p:spPr>
          <a:xfrm>
            <a:off x="677838" y="1107287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Question </a:t>
            </a:r>
            <a:r>
              <a:rPr lang="en-US" sz="1050" b="1" dirty="0"/>
              <a:t>:</a:t>
            </a:r>
            <a:endParaRPr lang="fr-FR" sz="1050" b="1" dirty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3873D28B-DEBD-B83C-5684-6FA90C217FDF}"/>
              </a:ext>
            </a:extLst>
          </p:cNvPr>
          <p:cNvSpPr/>
          <p:nvPr/>
        </p:nvSpPr>
        <p:spPr>
          <a:xfrm>
            <a:off x="3982871" y="2189004"/>
            <a:ext cx="659642" cy="60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9BF92A23-D19D-A707-FF1F-1C180C3CDF48}"/>
              </a:ext>
            </a:extLst>
          </p:cNvPr>
          <p:cNvSpPr txBox="1">
            <a:spLocks/>
          </p:cNvSpPr>
          <p:nvPr/>
        </p:nvSpPr>
        <p:spPr>
          <a:xfrm>
            <a:off x="677838" y="2776207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050" b="1" dirty="0"/>
              <a:t>Réponse</a:t>
            </a:r>
            <a:r>
              <a:rPr lang="en-US" sz="1050" b="1" dirty="0"/>
              <a:t> :</a:t>
            </a:r>
            <a:endParaRPr lang="fr-FR" sz="1050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9632A93-E9E0-4ADB-66D0-8B67C4199A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7" y="3252649"/>
            <a:ext cx="4380931" cy="132805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488C182-CC45-8083-6C12-FB4F047A45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8" y="1428036"/>
            <a:ext cx="2495265" cy="152193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37D311D-B097-F23B-3912-ED8EACD760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002" y="1118041"/>
            <a:ext cx="3734167" cy="238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5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par fine-tuning : Construction du jeu d'entraînement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0F51A40-66E1-0777-B41B-4B37F990F88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Génération</a:t>
            </a:r>
            <a:r>
              <a:rPr lang="en-US" sz="1600" b="1" dirty="0"/>
              <a:t> de concepts :</a:t>
            </a:r>
            <a:endParaRPr lang="fr-FR" sz="16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BAF11B0-576A-46E9-9FC4-D21E2270C40D}"/>
              </a:ext>
            </a:extLst>
          </p:cNvPr>
          <p:cNvSpPr txBox="1">
            <a:spLocks/>
          </p:cNvSpPr>
          <p:nvPr/>
        </p:nvSpPr>
        <p:spPr>
          <a:xfrm>
            <a:off x="628650" y="1264890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050" b="1" dirty="0"/>
              <a:t>- Repartition des </a:t>
            </a:r>
            <a:r>
              <a:rPr lang="en-US" sz="1050" b="1" dirty="0" err="1"/>
              <a:t>briques</a:t>
            </a:r>
            <a:r>
              <a:rPr lang="en-US" sz="1050" b="1" dirty="0"/>
              <a:t> de question :</a:t>
            </a:r>
            <a:endParaRPr lang="fr-FR" sz="105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AC3D04C-0EFF-CC2F-3CF0-43052D1308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155" y="1883159"/>
            <a:ext cx="6159690" cy="199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4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>
                <a:solidFill>
                  <a:schemeClr val="tx1"/>
                </a:solidFill>
                <a:latin typeface="Calibri (Corps)"/>
              </a:rPr>
              <a:t>Llama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AD0292-C94C-A089-2943-0113A4DAB3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64774"/>
            <a:ext cx="4361091" cy="250904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E55FEFA-1CFC-1040-8E62-18A9C970F1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09" y="1753116"/>
            <a:ext cx="4249003" cy="163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1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>
                <a:solidFill>
                  <a:schemeClr val="tx1"/>
                </a:solidFill>
                <a:latin typeface="Calibri (Corps)"/>
              </a:rPr>
              <a:t>Mistral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761309"/>
            <a:ext cx="50951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EF30A0-B342-FAD8-BC0F-A27187A1A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169" y="1410269"/>
            <a:ext cx="4049912" cy="231797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0F45AAE-8A59-B8E6-88B3-7AFC1DDDED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11" y="1752886"/>
            <a:ext cx="4400789" cy="153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3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 err="1">
                <a:solidFill>
                  <a:schemeClr val="tx1"/>
                </a:solidFill>
                <a:latin typeface="Calibri (Corps)"/>
              </a:rPr>
              <a:t>Qwen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541362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8CBC9A0-BDF4-4241-1C4E-7EE59446D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690" y="1310405"/>
            <a:ext cx="4384811" cy="25226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F7E5032-D00E-A013-C3C8-28E785E0A3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99" y="1760560"/>
            <a:ext cx="4445823" cy="171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23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Comparaison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5641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12</a:t>
            </a:r>
            <a:endParaRPr lang="fr-FR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113AFFD-A56D-3DDB-6825-83818F3C47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236" y="1395166"/>
            <a:ext cx="5561461" cy="203756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34929D5-523F-E100-2645-9BC6067DAB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" y="1792651"/>
            <a:ext cx="2940577" cy="142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8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</a:t>
            </a:r>
            <a:r>
              <a:rPr lang="fr-FR" sz="2800" b="1" dirty="0" err="1"/>
              <a:t>GraphRAG</a:t>
            </a:r>
            <a:r>
              <a:rPr lang="fr-FR" sz="2800" b="1" dirty="0"/>
              <a:t>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541362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13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38F7E9E-3795-7DB3-036A-485BA84890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962" y="878862"/>
            <a:ext cx="4749207" cy="375011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CECAC366-4101-0ABD-9ED7-6619EBE8609C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2820301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Architecture global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4083685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</a:t>
            </a:r>
            <a:r>
              <a:rPr lang="fr-FR" sz="2800" b="1" dirty="0" err="1"/>
              <a:t>GraphRAG</a:t>
            </a:r>
            <a:r>
              <a:rPr lang="fr-FR" sz="2800" b="1" dirty="0"/>
              <a:t>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23165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14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5F9627A-CD53-81D7-3BC5-8E93E542C8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843" y="1275426"/>
            <a:ext cx="6888997" cy="282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81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</a:t>
            </a:r>
            <a:r>
              <a:rPr lang="fr-FR" sz="2800" b="1" dirty="0" err="1"/>
              <a:t>GraphRAG</a:t>
            </a:r>
            <a:r>
              <a:rPr lang="fr-FR" sz="2800" b="1" dirty="0"/>
              <a:t>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527714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94FE45-D94C-BB58-3DCE-75DD6F7396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860" y="971025"/>
            <a:ext cx="2868506" cy="351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29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</a:t>
            </a:r>
            <a:r>
              <a:rPr lang="fr-FR" sz="2000" b="1" dirty="0" err="1"/>
              <a:t>GraphRAG</a:t>
            </a:r>
            <a:r>
              <a:rPr lang="fr-FR" sz="2000" b="1" dirty="0"/>
              <a:t> : Comparaison des modèles de génération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18615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3874E2-7704-EE80-057E-185E756619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56" y="1646894"/>
            <a:ext cx="7060442" cy="165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14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</a:t>
            </a:r>
            <a:r>
              <a:rPr lang="fr-FR" sz="2800" b="1" dirty="0" err="1"/>
              <a:t>GraphRAG</a:t>
            </a:r>
            <a:r>
              <a:rPr lang="fr-FR" sz="2800" b="1" dirty="0"/>
              <a:t>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32263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17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40E37C8-585F-35D3-3F77-DCCFF1CD92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2" y="2764695"/>
            <a:ext cx="4184542" cy="15986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C6BC60B-D851-C665-6B2B-ED741AE32D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20" y="2584487"/>
            <a:ext cx="3274447" cy="136542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8B16B2B-EA93-8D21-BA0A-A0BB432024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3" y="985807"/>
            <a:ext cx="4202658" cy="159868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76A88EB-C310-CF96-4057-8DC28B5CB95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20" y="1077858"/>
            <a:ext cx="3734259" cy="111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92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45911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ED06358-9C39-345D-AA79-64845B8010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771" y="1583859"/>
            <a:ext cx="5980972" cy="197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73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527714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19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GraphRAG : Évaluation de la base vectorielle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70CC725-F74B-09B6-5E7F-DC59EEC1E8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981" y="1327935"/>
            <a:ext cx="5010727" cy="248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26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18615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GraphRAG : Évaluation de la base vectorielle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0DFF945-4F8E-CD97-A19C-ECB017879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791" y="973300"/>
            <a:ext cx="5877156" cy="35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86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536812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21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GraphRAG : Évaluation de la base vectorielle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E9B5880-BA19-DC59-5064-26B536F9F8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217" y="1137513"/>
            <a:ext cx="5419566" cy="323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98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18615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22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GraphRAG : Évaluation de la base vectorielle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0D325C-9BE9-1599-5A5F-118D214194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14" y="873895"/>
            <a:ext cx="4001779" cy="376004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4F56559-C363-468F-D432-7C5B00BCDB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286" y="1641483"/>
            <a:ext cx="3850068" cy="186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32263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23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61620"/>
            <a:ext cx="5085110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1800" b="1" dirty="0"/>
              <a:t>Approche </a:t>
            </a:r>
            <a:r>
              <a:rPr lang="fr-FR" sz="1800" b="1" dirty="0" err="1"/>
              <a:t>GraphRAG</a:t>
            </a:r>
            <a:r>
              <a:rPr lang="fr-FR" sz="1800" b="1" dirty="0"/>
              <a:t> :</a:t>
            </a:r>
            <a:r>
              <a:rPr lang="fr-FR" sz="1800" dirty="0"/>
              <a:t> </a:t>
            </a:r>
            <a:r>
              <a:rPr lang="fr-FR" sz="1800" b="1" dirty="0"/>
              <a:t>Création de scénarios de test</a:t>
            </a:r>
            <a:endParaRPr lang="fr-FR" sz="18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7424B9-F81C-36FA-8033-DD39FBABB2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644" y="1017329"/>
            <a:ext cx="5422711" cy="340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00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55009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24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FBC40FC-111A-AF9F-53C9-4F2C5A219F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697" y="1006074"/>
            <a:ext cx="4132606" cy="343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39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30889" y="4816779"/>
            <a:ext cx="532263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25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47770"/>
            <a:ext cx="58528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base vectorielle avec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Qdrant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0F96448-7E5B-5B57-26A0-5380CD60AD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11" y="1137957"/>
            <a:ext cx="7109762" cy="308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16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23165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26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47770"/>
            <a:ext cx="62760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7541484-5640-969A-6B1A-765DFC35C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0" y="1396940"/>
            <a:ext cx="3956899" cy="206504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02FA345-A8BF-53D5-AA21-B3F4820CC2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668" y="1478508"/>
            <a:ext cx="4925304" cy="184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38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1" y="4816779"/>
            <a:ext cx="514067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27</a:t>
            </a:r>
            <a:endParaRPr lang="fr-FR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0693A9-32A0-857C-25D8-8BEC9BD3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47770"/>
            <a:ext cx="62760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41238D-76C1-9B91-3F39-5BD01F6E8E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967" y="977650"/>
            <a:ext cx="5936776" cy="347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37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292</Words>
  <Application>Microsoft Office PowerPoint</Application>
  <PresentationFormat>Affichage à l'écran (16:9)</PresentationFormat>
  <Paragraphs>76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(Corps)</vt:lpstr>
      <vt:lpstr>Times New Roman</vt:lpstr>
      <vt:lpstr>Thème Office</vt:lpstr>
      <vt:lpstr>Service LLM</vt:lpstr>
      <vt:lpstr>Plan de la présentation</vt:lpstr>
      <vt:lpstr>Approche par fine-tuning : Construction du jeu d'entraînement</vt:lpstr>
      <vt:lpstr>Approche par fine-tuning : Construction du jeu d'entraînement</vt:lpstr>
      <vt:lpstr>Approche par fine-tuning : Construction du jeu d'entraînement</vt:lpstr>
      <vt:lpstr>Approche par fine-tuning : Construction du jeu d'entraînement</vt:lpstr>
      <vt:lpstr>Approche par fine-tuning : Construction du jeu d'entraînement</vt:lpstr>
      <vt:lpstr>Approche par fine-tuning : Construction du jeu d'entraînement</vt:lpstr>
      <vt:lpstr>Évaluation pour le fine-tuning : Llama </vt:lpstr>
      <vt:lpstr>Évaluation pour le fine-tuning : Mistral </vt:lpstr>
      <vt:lpstr>Évaluation pour le fine-tuning : Qwen </vt:lpstr>
      <vt:lpstr>Évaluation pour le fine-tuning : Comparaison</vt:lpstr>
      <vt:lpstr>Approche GraphRAG : Architecture</vt:lpstr>
      <vt:lpstr>Approche GraphRAG : Architecture</vt:lpstr>
      <vt:lpstr>Approche GraphRAG : Architecture</vt:lpstr>
      <vt:lpstr>Approche GraphRAG : Comparaison des modèles de génération</vt:lpstr>
      <vt:lpstr>Approche GraphRAG : Architecture</vt:lpstr>
      <vt:lpstr>Approche GraphRAG : Évaluation de la base vectorielle</vt:lpstr>
      <vt:lpstr>Approche GraphRAG : Évaluation de la base vectorielle</vt:lpstr>
      <vt:lpstr>Approche GraphRAG : Évaluation de la base vectorielle</vt:lpstr>
      <vt:lpstr>Approche GraphRAG : Évaluation de la base vectorielle</vt:lpstr>
      <vt:lpstr>Approche GraphRAG : Évaluation de la base vectorielle</vt:lpstr>
      <vt:lpstr>Approche GraphRAG : Création de scénarios de test</vt:lpstr>
      <vt:lpstr>Approche GraphRAG : Évaluation de la base vectorielle</vt:lpstr>
      <vt:lpstr>Approche GraphRAG : base vectorielle avec Qdrant</vt:lpstr>
      <vt:lpstr>Approche GraphRAG : Évaluation de la base vectorielle</vt:lpstr>
      <vt:lpstr>Approche GraphRAG : Évaluation de la base vectorielle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44</cp:revision>
  <dcterms:created xsi:type="dcterms:W3CDTF">2026-05-20T12:58:41Z</dcterms:created>
  <dcterms:modified xsi:type="dcterms:W3CDTF">2026-09-08T14:21:11Z</dcterms:modified>
</cp:coreProperties>
</file>
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fr-FR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4A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54" autoAdjust="0"/>
    <p:restoredTop sz="94660"/>
  </p:normalViewPr>
  <p:slideViewPr>
    <p:cSldViewPr snapToGrid="0">
      <p:cViewPr varScale="1">
        <p:scale>
          <a:sx n="211" d="100"/>
          <a:sy n="211" d="100"/>
        </p:scale>
        <p:origin x="252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e 9"/>
          <p:cNvGrpSpPr/>
          <p:nvPr userDrawn="1"/>
        </p:nvGrpSpPr>
        <p:grpSpPr>
          <a:xfrm>
            <a:off x="0" y="2033540"/>
            <a:ext cx="9144000" cy="1190720"/>
            <a:chOff x="0" y="1701304"/>
            <a:chExt cx="9144000" cy="1470025"/>
          </a:xfrm>
        </p:grpSpPr>
        <p:sp>
          <p:nvSpPr>
            <p:cNvPr id="7" name="Rectangle 6"/>
            <p:cNvSpPr/>
            <p:nvPr userDrawn="1"/>
          </p:nvSpPr>
          <p:spPr>
            <a:xfrm>
              <a:off x="0" y="1701304"/>
              <a:ext cx="9144000" cy="147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1886" y="1701304"/>
              <a:ext cx="4504250" cy="144016"/>
            </a:xfrm>
            <a:prstGeom prst="rect">
              <a:avLst/>
            </a:prstGeom>
            <a:solidFill>
              <a:srgbClr val="B8B90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fr-FR" dirty="0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4639750" y="3027313"/>
              <a:ext cx="4504250" cy="144016"/>
            </a:xfrm>
            <a:prstGeom prst="rect">
              <a:avLst/>
            </a:prstGeom>
            <a:solidFill>
              <a:srgbClr val="B5397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2093043"/>
            <a:ext cx="6858000" cy="957415"/>
          </a:xfrm>
        </p:spPr>
        <p:txBody>
          <a:bodyPr anchor="ctr" anchorCtr="1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2800" kern="1200" dirty="0">
                <a:solidFill>
                  <a:srgbClr val="184A7C"/>
                </a:solidFill>
                <a:latin typeface="+mn-lt"/>
                <a:ea typeface="+mj-ea"/>
                <a:cs typeface="Arial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3311CEC2-7E8B-58D8-CCB0-C646E738E32C}"/>
              </a:ext>
            </a:extLst>
          </p:cNvPr>
          <p:cNvGrpSpPr/>
          <p:nvPr userDrawn="1"/>
        </p:nvGrpSpPr>
        <p:grpSpPr>
          <a:xfrm>
            <a:off x="1" y="0"/>
            <a:ext cx="9142113" cy="5142439"/>
            <a:chOff x="1" y="0"/>
            <a:chExt cx="9142113" cy="5142439"/>
          </a:xfrm>
        </p:grpSpPr>
        <p:pic>
          <p:nvPicPr>
            <p:cNvPr id="18" name="Graphique 17">
              <a:extLst>
                <a:ext uri="{FF2B5EF4-FFF2-40B4-BE49-F238E27FC236}">
                  <a16:creationId xmlns:a16="http://schemas.microsoft.com/office/drawing/2014/main" id="{2BD1688D-D452-497D-8267-D85AE791BD8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" y="0"/>
              <a:ext cx="9142113" cy="5142439"/>
            </a:xfrm>
            <a:prstGeom prst="rect">
              <a:avLst/>
            </a:prstGeom>
          </p:spPr>
        </p:pic>
        <p:pic>
          <p:nvPicPr>
            <p:cNvPr id="4" name="Image 3" descr="Une image contenant Police, Graphique, logo, cercle&#10;&#10;Description générée automatiquement">
              <a:extLst>
                <a:ext uri="{FF2B5EF4-FFF2-40B4-BE49-F238E27FC236}">
                  <a16:creationId xmlns:a16="http://schemas.microsoft.com/office/drawing/2014/main" id="{663BE605-13D5-1670-1227-4654C075B89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0091" y="4202868"/>
              <a:ext cx="681296" cy="6719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9507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que 13">
            <a:extLst>
              <a:ext uri="{FF2B5EF4-FFF2-40B4-BE49-F238E27FC236}">
                <a16:creationId xmlns:a16="http://schemas.microsoft.com/office/drawing/2014/main" id="{140A2D93-1740-4C6F-BAE9-B580F7FCE4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3349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BCDAC507-911E-4D9A-9367-5747FA03C3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3464651"/>
            <a:ext cx="7886700" cy="754227"/>
          </a:xfrm>
        </p:spPr>
        <p:txBody>
          <a:bodyPr anchor="ctr" anchorCtr="0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2213356"/>
            <a:ext cx="7886700" cy="1022855"/>
          </a:xfrm>
        </p:spPr>
        <p:txBody>
          <a:bodyPr anchor="b" anchorCtr="0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6395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que 13">
            <a:extLst>
              <a:ext uri="{FF2B5EF4-FFF2-40B4-BE49-F238E27FC236}">
                <a16:creationId xmlns:a16="http://schemas.microsoft.com/office/drawing/2014/main" id="{FA5D0A9F-8F33-4831-AD7D-2432557235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018108"/>
            <a:ext cx="3886200" cy="361461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018108"/>
            <a:ext cx="3886200" cy="361461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3791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que 15">
            <a:extLst>
              <a:ext uri="{FF2B5EF4-FFF2-40B4-BE49-F238E27FC236}">
                <a16:creationId xmlns:a16="http://schemas.microsoft.com/office/drawing/2014/main" id="{0DF48902-085D-4BC8-BCCD-313EBE1A0F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173811"/>
            <a:ext cx="7886700" cy="51274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973706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589494"/>
            <a:ext cx="3868340" cy="303978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973706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589494"/>
            <a:ext cx="3887391" cy="303978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3167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que 11">
            <a:extLst>
              <a:ext uri="{FF2B5EF4-FFF2-40B4-BE49-F238E27FC236}">
                <a16:creationId xmlns:a16="http://schemas.microsoft.com/office/drawing/2014/main" id="{D2195C6D-45B2-4126-88D3-5A236E8B55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8427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ed de pag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22DBC290-2349-4FC5-ABDF-9CB28F53CE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719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2118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7158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3880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5562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0560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70751FDA-1D85-4E19-80EA-B0CE6B0CE4A9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" y="0"/>
            <a:ext cx="9143998" cy="5143499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73812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916461"/>
            <a:ext cx="7886700" cy="3716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47125" y="4797491"/>
            <a:ext cx="86443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184A7C"/>
                </a:solidFill>
              </a:defRPr>
            </a:lvl1pPr>
          </a:lstStyle>
          <a:p>
            <a:fld id="{51A6EA8C-2C90-4E49-8C34-37882B6FFE4F}" type="datetimeFigureOut">
              <a:rPr lang="fr-FR" smtClean="0"/>
              <a:pPr/>
              <a:t>02/07/2026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97491"/>
            <a:ext cx="425831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184A7C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04648" y="4797491"/>
            <a:ext cx="61070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184A7C"/>
                </a:solidFill>
              </a:defRPr>
            </a:lvl1pPr>
          </a:lstStyle>
          <a:p>
            <a:fld id="{33B8C7BD-462B-48D7-8427-09CAA7096E3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8712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72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rgbClr val="184A7C"/>
          </a:solidFill>
          <a:latin typeface="+mn-lt"/>
          <a:ea typeface="+mj-ea"/>
          <a:cs typeface="+mj-cs"/>
        </a:defRPr>
      </a:lvl1pPr>
    </p:titleStyle>
    <p:bodyStyle>
      <a:lvl1pPr marL="342900" marR="0" indent="-3429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Blip>
          <a:blip r:embed="rId16"/>
        </a:buBlip>
        <a:tabLst/>
        <a:defRPr sz="2400" b="1" kern="1200">
          <a:solidFill>
            <a:srgbClr val="184A7C"/>
          </a:solidFill>
          <a:latin typeface="+mn-lt"/>
          <a:ea typeface="+mn-ea"/>
          <a:cs typeface="+mn-cs"/>
        </a:defRPr>
      </a:lvl1pPr>
      <a:lvl2pPr marL="533400" marR="0" indent="-28575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Blip>
          <a:blip r:embed="rId17"/>
        </a:buBlip>
        <a:tabLst/>
        <a:defRPr sz="2000" kern="1200">
          <a:solidFill>
            <a:srgbClr val="184A7C"/>
          </a:solidFill>
          <a:latin typeface="+mn-lt"/>
          <a:ea typeface="+mn-ea"/>
          <a:cs typeface="+mn-cs"/>
        </a:defRPr>
      </a:lvl2pPr>
      <a:lvl3pPr marL="717550" marR="0" indent="-2667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Blip>
          <a:blip r:embed="rId18"/>
        </a:buBlip>
        <a:tabLst/>
        <a:defRPr sz="1800" kern="1200">
          <a:solidFill>
            <a:srgbClr val="184A7C"/>
          </a:solidFill>
          <a:latin typeface="+mn-lt"/>
          <a:ea typeface="+mn-ea"/>
          <a:cs typeface="+mn-cs"/>
        </a:defRPr>
      </a:lvl3pPr>
      <a:lvl4pPr marL="987425" marR="0" indent="-2286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Blip>
          <a:blip r:embed="rId19"/>
        </a:buBlip>
        <a:tabLst/>
        <a:defRPr sz="1600" i="1" kern="1200">
          <a:solidFill>
            <a:srgbClr val="184A7C"/>
          </a:solidFill>
          <a:latin typeface="+mn-lt"/>
          <a:ea typeface="+mn-ea"/>
          <a:cs typeface="+mn-cs"/>
        </a:defRPr>
      </a:lvl4pPr>
      <a:lvl5pPr marL="1246188" marR="0" indent="-2286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Blip>
          <a:blip r:embed="rId20"/>
        </a:buBlip>
        <a:tabLst/>
        <a:defRPr sz="1600" kern="1200">
          <a:solidFill>
            <a:srgbClr val="184A7C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143000" y="2001603"/>
            <a:ext cx="6858000" cy="957415"/>
          </a:xfrm>
        </p:spPr>
        <p:txBody>
          <a:bodyPr>
            <a:normAutofit/>
          </a:bodyPr>
          <a:lstStyle/>
          <a:p>
            <a:r>
              <a:rPr lang="fr-FR" b="1" dirty="0"/>
              <a:t>TAC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E0FD771-3B8E-E019-F742-113477F974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6435" y="260848"/>
            <a:ext cx="1510850" cy="76986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182A2454-C9B2-BE92-57E8-25153AF43A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1139" y="83770"/>
            <a:ext cx="1162998" cy="112401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ZoneTexte 6">
            <a:extLst>
              <a:ext uri="{FF2B5EF4-FFF2-40B4-BE49-F238E27FC236}">
                <a16:creationId xmlns:a16="http://schemas.microsoft.com/office/drawing/2014/main" id="{AD411B4E-6E61-83A3-154F-38BB12EB8229}"/>
              </a:ext>
            </a:extLst>
          </p:cNvPr>
          <p:cNvSpPr txBox="1"/>
          <p:nvPr/>
        </p:nvSpPr>
        <p:spPr>
          <a:xfrm>
            <a:off x="4251960" y="3752836"/>
            <a:ext cx="112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1" dirty="0"/>
              <a:t>07/03/2026</a:t>
            </a:r>
          </a:p>
        </p:txBody>
      </p:sp>
    </p:spTree>
    <p:extLst>
      <p:ext uri="{BB962C8B-B14F-4D97-AF65-F5344CB8AC3E}">
        <p14:creationId xmlns:p14="http://schemas.microsoft.com/office/powerpoint/2010/main" val="2663665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8269A5-CF96-3E7C-5130-70C3F4325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Plan de la présentation</a:t>
            </a:r>
            <a:endParaRPr lang="fr-FR" b="1" dirty="0">
              <a:cs typeface="Times New Roman" panose="02020603050405020304" pitchFamily="18" charset="0"/>
            </a:endParaRP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158721A1-6C1D-DBB9-C7E8-10C4EAE8B1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69E13667-82D6-D2EA-E5DE-939BD12E6A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10" name="Titre 1">
            <a:extLst>
              <a:ext uri="{FF2B5EF4-FFF2-40B4-BE49-F238E27FC236}">
                <a16:creationId xmlns:a16="http://schemas.microsoft.com/office/drawing/2014/main" id="{ECBB2846-27B9-F14D-302B-30ABFCFE0EE1}"/>
              </a:ext>
            </a:extLst>
          </p:cNvPr>
          <p:cNvSpPr txBox="1">
            <a:spLocks/>
          </p:cNvSpPr>
          <p:nvPr/>
        </p:nvSpPr>
        <p:spPr>
          <a:xfrm>
            <a:off x="690065" y="976135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000" b="1" dirty="0">
                <a:cs typeface="Times New Roman" panose="02020603050405020304" pitchFamily="18" charset="0"/>
              </a:rPr>
              <a:t>1 - </a:t>
            </a:r>
            <a:r>
              <a:rPr lang="en-GB" sz="2000" b="1" dirty="0"/>
              <a:t>Neo4j vs </a:t>
            </a:r>
            <a:r>
              <a:rPr lang="en-GB" sz="2000" b="1" dirty="0" err="1"/>
              <a:t>ArangoDB</a:t>
            </a:r>
            <a:r>
              <a:rPr lang="en-GB" sz="2000" dirty="0"/>
              <a:t> </a:t>
            </a:r>
            <a:endParaRPr lang="fr-FR" sz="2000" b="1" dirty="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2ADEB7CC-52F9-CA22-D899-A38EF3503F29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  <a:endParaRPr lang="fr-FR" b="1" dirty="0"/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74346614-A115-BB1C-0E08-5E06E3160334}"/>
              </a:ext>
            </a:extLst>
          </p:cNvPr>
          <p:cNvSpPr txBox="1">
            <a:spLocks/>
          </p:cNvSpPr>
          <p:nvPr/>
        </p:nvSpPr>
        <p:spPr>
          <a:xfrm>
            <a:off x="690065" y="1519834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2000" b="1" dirty="0"/>
              <a:t>2 - RAG</a:t>
            </a:r>
          </a:p>
        </p:txBody>
      </p:sp>
    </p:spTree>
    <p:extLst>
      <p:ext uri="{BB962C8B-B14F-4D97-AF65-F5344CB8AC3E}">
        <p14:creationId xmlns:p14="http://schemas.microsoft.com/office/powerpoint/2010/main" val="2132275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EE6ED4F1-DAF2-BA0E-35C4-316FA14C620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F4D540A5-2887-9E0F-D4D6-5E30060D0D5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C10917A0-17BF-F5AA-C3AD-4C1D13FA33E8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  <a:endParaRPr lang="fr-FR" b="1" dirty="0"/>
          </a:p>
        </p:txBody>
      </p:sp>
      <p:sp>
        <p:nvSpPr>
          <p:cNvPr id="30" name="Titre 1">
            <a:extLst>
              <a:ext uri="{FF2B5EF4-FFF2-40B4-BE49-F238E27FC236}">
                <a16:creationId xmlns:a16="http://schemas.microsoft.com/office/drawing/2014/main" id="{FFDDADAC-2F6E-DFAF-7F4B-2FC305F484A9}"/>
              </a:ext>
            </a:extLst>
          </p:cNvPr>
          <p:cNvSpPr txBox="1">
            <a:spLocks/>
          </p:cNvSpPr>
          <p:nvPr/>
        </p:nvSpPr>
        <p:spPr>
          <a:xfrm>
            <a:off x="628650" y="173812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b="1" dirty="0"/>
              <a:t>Neo4j vs </a:t>
            </a:r>
            <a:r>
              <a:rPr lang="en-GB" b="1" dirty="0" err="1"/>
              <a:t>ArangoDB</a:t>
            </a:r>
            <a:r>
              <a:rPr lang="en-GB" dirty="0"/>
              <a:t> </a:t>
            </a:r>
            <a:endParaRPr lang="fr-FR" b="1" dirty="0">
              <a:cs typeface="Times New Roman" panose="02020603050405020304" pitchFamily="18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A13A955-CB12-34E3-C0BB-99611EC89A6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354" y="540445"/>
            <a:ext cx="7269933" cy="406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062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Neo4j vs </a:t>
            </a:r>
            <a:r>
              <a:rPr lang="en-GB" b="1" dirty="0" err="1"/>
              <a:t>ArangoDB</a:t>
            </a:r>
            <a:r>
              <a:rPr lang="en-GB" dirty="0"/>
              <a:t> </a:t>
            </a:r>
            <a:endParaRPr lang="fr-FR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  <a:endParaRPr lang="fr-FR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BDFFC84-D0D7-ED05-2070-2EE98DA7E6F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04264"/>
            <a:ext cx="4643296" cy="2321648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67B20FEE-1227-E9CA-94DC-0DD63BE6E46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3731" y="1102793"/>
            <a:ext cx="5114064" cy="3008273"/>
          </a:xfrm>
          <a:prstGeom prst="rect">
            <a:avLst/>
          </a:prstGeom>
        </p:spPr>
      </p:pic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1A80F45E-0012-D6C4-C79E-AE3D4819088C}"/>
              </a:ext>
            </a:extLst>
          </p:cNvPr>
          <p:cNvCxnSpPr/>
          <p:nvPr/>
        </p:nvCxnSpPr>
        <p:spPr>
          <a:xfrm>
            <a:off x="4643296" y="1029274"/>
            <a:ext cx="0" cy="33451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0547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Neo4j vs </a:t>
            </a:r>
            <a:r>
              <a:rPr lang="en-GB" b="1" dirty="0" err="1"/>
              <a:t>ArangoDB</a:t>
            </a:r>
            <a:r>
              <a:rPr lang="en-GB" dirty="0"/>
              <a:t> </a:t>
            </a:r>
            <a:endParaRPr lang="fr-FR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  <a:endParaRPr lang="fr-FR" b="1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A9B835A-A427-731B-D879-CDBA311750B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537" y="1308224"/>
            <a:ext cx="4287463" cy="2648139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A80948D0-0B7E-C4CD-085F-12B9E7E70C7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247680"/>
            <a:ext cx="4738775" cy="2648139"/>
          </a:xfrm>
          <a:prstGeom prst="rect">
            <a:avLst/>
          </a:prstGeom>
        </p:spPr>
      </p:pic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B2E45591-2B98-5F38-3D9A-9A45BB056BA1}"/>
              </a:ext>
            </a:extLst>
          </p:cNvPr>
          <p:cNvCxnSpPr/>
          <p:nvPr/>
        </p:nvCxnSpPr>
        <p:spPr>
          <a:xfrm>
            <a:off x="4643296" y="1029274"/>
            <a:ext cx="0" cy="33451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8146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Neo4j vs </a:t>
            </a:r>
            <a:r>
              <a:rPr lang="en-GB" b="1" dirty="0" err="1"/>
              <a:t>ArangoDB</a:t>
            </a:r>
            <a:r>
              <a:rPr lang="en-GB" dirty="0"/>
              <a:t> </a:t>
            </a:r>
            <a:endParaRPr lang="fr-FR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  <a:endParaRPr lang="fr-FR" b="1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F1C3CFC2-7821-7D3C-CA2A-17B6C407C96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3751" y="1265787"/>
            <a:ext cx="4836498" cy="3058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328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RAG</a:t>
            </a: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  <a:endParaRPr lang="fr-FR" b="1" dirty="0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671632D4-9911-B9F0-4E7A-E25231C021C6}"/>
              </a:ext>
            </a:extLst>
          </p:cNvPr>
          <p:cNvSpPr txBox="1">
            <a:spLocks/>
          </p:cNvSpPr>
          <p:nvPr/>
        </p:nvSpPr>
        <p:spPr>
          <a:xfrm>
            <a:off x="628650" y="1100283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b="1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30101422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LIRIS_2015">
      <a:dk1>
        <a:srgbClr val="184A7C"/>
      </a:dk1>
      <a:lt1>
        <a:sysClr val="window" lastClr="FFFFFF"/>
      </a:lt1>
      <a:dk2>
        <a:srgbClr val="727CA1"/>
      </a:dk2>
      <a:lt2>
        <a:srgbClr val="EEECE1"/>
      </a:lt2>
      <a:accent1>
        <a:srgbClr val="B5397D"/>
      </a:accent1>
      <a:accent2>
        <a:srgbClr val="B8B90C"/>
      </a:accent2>
      <a:accent3>
        <a:srgbClr val="9571AB"/>
      </a:accent3>
      <a:accent4>
        <a:srgbClr val="A0C7E7"/>
      </a:accent4>
      <a:accent5>
        <a:srgbClr val="368AD2"/>
      </a:accent5>
      <a:accent6>
        <a:srgbClr val="FF8D40"/>
      </a:accent6>
      <a:hlink>
        <a:srgbClr val="B5397D"/>
      </a:hlink>
      <a:folHlink>
        <a:srgbClr val="800080"/>
      </a:folHlink>
    </a:clrScheme>
    <a:fontScheme name="Thèm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4" id="{7D53479B-BFB6-4E85-BA88-194112626D1D}" vid="{7CEA4CB0-7113-45A9-A115-E97C542A1D5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theme_LIRIS_16_9e_2024</Template>
  <TotalTime>1584</TotalTime>
  <Words>34</Words>
  <Application>Microsoft Office PowerPoint</Application>
  <PresentationFormat>Affichage à l'écran (16:9)</PresentationFormat>
  <Paragraphs>17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Thème Office</vt:lpstr>
      <vt:lpstr>TAC</vt:lpstr>
      <vt:lpstr>Plan de la présentation</vt:lpstr>
      <vt:lpstr>Présentation PowerPoint</vt:lpstr>
      <vt:lpstr>Neo4j vs ArangoDB </vt:lpstr>
      <vt:lpstr>Neo4j vs ArangoDB </vt:lpstr>
      <vt:lpstr>Neo4j vs ArangoDB </vt:lpstr>
      <vt:lpstr>RAG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Asri Rida</dc:creator>
  <cp:lastModifiedBy>Asri Rida</cp:lastModifiedBy>
  <cp:revision>8</cp:revision>
  <dcterms:created xsi:type="dcterms:W3CDTF">2026-05-20T12:58:41Z</dcterms:created>
  <dcterms:modified xsi:type="dcterms:W3CDTF">2026-07-03T15:00:37Z</dcterms:modified>
</cp:coreProperties>
</file>
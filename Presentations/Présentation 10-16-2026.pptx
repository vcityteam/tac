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411" r:id="rId4"/>
    <p:sldId id="358" r:id="rId5"/>
    <p:sldId id="346" r:id="rId6"/>
    <p:sldId id="347" r:id="rId7"/>
    <p:sldId id="359" r:id="rId8"/>
    <p:sldId id="366" r:id="rId9"/>
    <p:sldId id="367" r:id="rId10"/>
    <p:sldId id="352" r:id="rId11"/>
    <p:sldId id="302" r:id="rId12"/>
    <p:sldId id="348" r:id="rId13"/>
    <p:sldId id="360" r:id="rId14"/>
    <p:sldId id="368" r:id="rId15"/>
    <p:sldId id="369" r:id="rId16"/>
    <p:sldId id="353" r:id="rId17"/>
    <p:sldId id="285" r:id="rId18"/>
    <p:sldId id="354" r:id="rId19"/>
    <p:sldId id="361" r:id="rId20"/>
    <p:sldId id="370" r:id="rId21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1D98F-F314-4F6E-94B6-DEE7FAB2E390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257FD-F8F9-4955-B95D-84466E4B23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532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6257FD-F8F9-4955-B95D-84466E4B233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03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16/10/2026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9.png"/><Relationship Id="rId7" Type="http://schemas.openxmlformats.org/officeDocument/2006/relationships/image" Target="../media/image31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9.png"/><Relationship Id="rId7" Type="http://schemas.openxmlformats.org/officeDocument/2006/relationships/image" Target="../media/image5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9.png"/><Relationship Id="rId7" Type="http://schemas.openxmlformats.org/officeDocument/2006/relationships/image" Target="../media/image6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9.png"/><Relationship Id="rId7" Type="http://schemas.openxmlformats.org/officeDocument/2006/relationships/image" Target="../media/image6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9.png"/><Relationship Id="rId7" Type="http://schemas.openxmlformats.org/officeDocument/2006/relationships/image" Target="../media/image7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19.png"/><Relationship Id="rId7" Type="http://schemas.openxmlformats.org/officeDocument/2006/relationships/image" Target="../media/image81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Agent TAC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10/16/2026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85408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>
                <a:latin typeface="Calibri (Corps)"/>
              </a:rPr>
              <a:t>1 - Architecture</a:t>
            </a:r>
            <a:r>
              <a:rPr lang="en-US" sz="1200" b="1" dirty="0">
                <a:latin typeface="Calibri (Corps)"/>
              </a:rPr>
              <a:t> Agent TAC</a:t>
            </a:r>
            <a:r>
              <a:rPr lang="en-US" sz="1200" b="1" kern="1200" dirty="0">
                <a:solidFill>
                  <a:srgbClr val="184A7C"/>
                </a:solidFill>
                <a:effectLst/>
                <a:latin typeface="Calibri (Corps)"/>
              </a:rPr>
              <a:t> </a:t>
            </a:r>
            <a:endParaRPr lang="fr-FR" sz="1200" b="1" dirty="0">
              <a:latin typeface="Calibri (Corps)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1A1C20A-93D1-B34B-C6A9-8CB8D3FF753F}"/>
              </a:ext>
            </a:extLst>
          </p:cNvPr>
          <p:cNvSpPr txBox="1">
            <a:spLocks/>
          </p:cNvSpPr>
          <p:nvPr/>
        </p:nvSpPr>
        <p:spPr>
          <a:xfrm>
            <a:off x="690065" y="1153936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2 - Fine-tuning pour la génération de concepts – Brique 4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69AB3A-5607-3BE2-91D6-DAF943A6D2D2}"/>
              </a:ext>
            </a:extLst>
          </p:cNvPr>
          <p:cNvSpPr txBox="1">
            <a:spLocks/>
          </p:cNvSpPr>
          <p:nvPr/>
        </p:nvSpPr>
        <p:spPr>
          <a:xfrm>
            <a:off x="690065" y="145565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>
                <a:latin typeface="Calibri (Corps)"/>
              </a:rPr>
              <a:t>3 - </a:t>
            </a:r>
            <a:r>
              <a:rPr lang="fr-FR" sz="1200" b="1" i="0" kern="1200" baseline="0" dirty="0">
                <a:ln>
                  <a:noFill/>
                </a:ln>
                <a:solidFill>
                  <a:srgbClr val="184A7C"/>
                </a:solidFill>
                <a:effectLst/>
                <a:latin typeface="Calibri (Corps)"/>
              </a:rPr>
              <a:t>Évaluation du fine-tuning – Brique 4</a:t>
            </a:r>
            <a:r>
              <a:rPr lang="en-US" sz="1200" b="1" kern="1200" dirty="0">
                <a:solidFill>
                  <a:srgbClr val="184A7C"/>
                </a:solidFill>
                <a:effectLst/>
                <a:latin typeface="Calibri (Corps)"/>
              </a:rPr>
              <a:t> </a:t>
            </a:r>
            <a:endParaRPr lang="fr-FR" sz="1200" b="1" dirty="0">
              <a:latin typeface="Calibri (Corps)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3ECCE4-94CB-D32A-6EA9-CE672EB6A950}"/>
              </a:ext>
            </a:extLst>
          </p:cNvPr>
          <p:cNvSpPr txBox="1">
            <a:spLocks/>
          </p:cNvSpPr>
          <p:nvPr/>
        </p:nvSpPr>
        <p:spPr>
          <a:xfrm>
            <a:off x="683534" y="174476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4 - Évaluation de l’approche </a:t>
            </a:r>
            <a:r>
              <a:rPr lang="fr-FR" sz="1200" b="1" dirty="0" err="1"/>
              <a:t>GraphRAG</a:t>
            </a:r>
            <a:endParaRPr lang="fr-FR" sz="1200" b="1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5248415-F026-C851-49BB-424263278B62}"/>
              </a:ext>
            </a:extLst>
          </p:cNvPr>
          <p:cNvSpPr txBox="1">
            <a:spLocks/>
          </p:cNvSpPr>
          <p:nvPr/>
        </p:nvSpPr>
        <p:spPr>
          <a:xfrm>
            <a:off x="690065" y="2032947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5 - Évaluation de l’approche </a:t>
            </a:r>
            <a:r>
              <a:rPr lang="fr-FR" sz="1200" b="1" dirty="0" err="1"/>
              <a:t>GraphRAG</a:t>
            </a:r>
            <a:r>
              <a:rPr lang="fr-FR" sz="1200" b="1" dirty="0"/>
              <a:t> + fine-tuning – Brique 4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54B590E-03AC-2269-84D4-B4D1C6BBAFF5}"/>
              </a:ext>
            </a:extLst>
          </p:cNvPr>
          <p:cNvSpPr txBox="1">
            <a:spLocks/>
          </p:cNvSpPr>
          <p:nvPr/>
        </p:nvSpPr>
        <p:spPr>
          <a:xfrm>
            <a:off x="690065" y="23090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6 - Fine-tuning pour la génération de concepts – Brique 5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CA4F56A-545B-E9AD-C6DC-EB6887BB7F02}"/>
              </a:ext>
            </a:extLst>
          </p:cNvPr>
          <p:cNvSpPr txBox="1">
            <a:spLocks/>
          </p:cNvSpPr>
          <p:nvPr/>
        </p:nvSpPr>
        <p:spPr>
          <a:xfrm>
            <a:off x="690065" y="2635440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7 - Évaluation de l’approche </a:t>
            </a:r>
            <a:r>
              <a:rPr lang="fr-FR" sz="1200" b="1" dirty="0" err="1"/>
              <a:t>GraphRAG</a:t>
            </a:r>
            <a:r>
              <a:rPr lang="fr-FR" sz="1200" b="1" dirty="0"/>
              <a:t> + fine-tuning – Brique 5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02A47762-AB86-5F12-0434-6070CC08D640}"/>
              </a:ext>
            </a:extLst>
          </p:cNvPr>
          <p:cNvSpPr txBox="1">
            <a:spLocks/>
          </p:cNvSpPr>
          <p:nvPr/>
        </p:nvSpPr>
        <p:spPr>
          <a:xfrm>
            <a:off x="683534" y="2939145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8 - </a:t>
            </a:r>
            <a:r>
              <a:rPr lang="fr-FR" sz="1200" b="1" i="0" dirty="0">
                <a:solidFill>
                  <a:schemeClr val="tx1"/>
                </a:solidFill>
                <a:effectLst/>
                <a:latin typeface="Calibri (Corps)"/>
              </a:rPr>
              <a:t>Comparaison des résultats : </a:t>
            </a:r>
            <a:r>
              <a:rPr lang="fr-FR" sz="1200" b="1" dirty="0"/>
              <a:t>génération de concepts 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3AB2E606-307A-2929-C5A2-43CA6926FC7C}"/>
              </a:ext>
            </a:extLst>
          </p:cNvPr>
          <p:cNvSpPr txBox="1">
            <a:spLocks/>
          </p:cNvSpPr>
          <p:nvPr/>
        </p:nvSpPr>
        <p:spPr>
          <a:xfrm>
            <a:off x="683534" y="327629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9 - Évaluation de l’approche </a:t>
            </a:r>
            <a:r>
              <a:rPr lang="fr-FR" sz="1200" b="1" dirty="0" err="1"/>
              <a:t>GraphRAG</a:t>
            </a:r>
            <a:r>
              <a:rPr lang="fr-FR" sz="1200" b="1" dirty="0"/>
              <a:t> : </a:t>
            </a:r>
            <a:r>
              <a:rPr lang="en-US" sz="1200" b="1" dirty="0"/>
              <a:t>Thesaurus </a:t>
            </a:r>
            <a:endParaRPr lang="fr-FR" sz="1200" b="1" dirty="0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2375CE1C-423E-0531-D50D-C51C0208C21A}"/>
              </a:ext>
            </a:extLst>
          </p:cNvPr>
          <p:cNvSpPr txBox="1">
            <a:spLocks/>
          </p:cNvSpPr>
          <p:nvPr/>
        </p:nvSpPr>
        <p:spPr>
          <a:xfrm>
            <a:off x="683534" y="3649324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10 - Évaluation de l’approche </a:t>
            </a:r>
            <a:r>
              <a:rPr lang="fr-FR" sz="1200" b="1" dirty="0" err="1"/>
              <a:t>GraphRAG</a:t>
            </a:r>
            <a:r>
              <a:rPr lang="fr-FR" sz="1200" b="1" dirty="0"/>
              <a:t> + fine-tuning – Brique 4 : </a:t>
            </a:r>
            <a:r>
              <a:rPr lang="en-US" sz="12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Thesaurus </a:t>
            </a:r>
            <a:endParaRPr lang="fr-FR" sz="1200" b="1" dirty="0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9E556D87-16C2-5BFC-4FD3-543240F304E5}"/>
              </a:ext>
            </a:extLst>
          </p:cNvPr>
          <p:cNvSpPr txBox="1">
            <a:spLocks/>
          </p:cNvSpPr>
          <p:nvPr/>
        </p:nvSpPr>
        <p:spPr>
          <a:xfrm>
            <a:off x="683534" y="4034789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b="1" dirty="0"/>
              <a:t>11 - </a:t>
            </a:r>
            <a:r>
              <a:rPr lang="fr-FR" sz="1200" b="1" i="0" dirty="0">
                <a:solidFill>
                  <a:schemeClr val="tx1"/>
                </a:solidFill>
                <a:effectLst/>
                <a:latin typeface="Calibri (Corps)"/>
              </a:rPr>
              <a:t>Comparaison des résultats </a:t>
            </a:r>
            <a:r>
              <a:rPr lang="fr-FR" sz="1200" b="1" dirty="0"/>
              <a:t>: </a:t>
            </a:r>
            <a:r>
              <a:rPr lang="en-US" sz="1200" b="1" dirty="0"/>
              <a:t>Thesaurus 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4AF5097-6CC1-C71E-C5CB-6217F12353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969" y="226717"/>
            <a:ext cx="4859383" cy="469006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4CE160E-E982-391C-8339-106202027679}"/>
              </a:ext>
            </a:extLst>
          </p:cNvPr>
          <p:cNvSpPr txBox="1">
            <a:spLocks/>
          </p:cNvSpPr>
          <p:nvPr/>
        </p:nvSpPr>
        <p:spPr>
          <a:xfrm>
            <a:off x="262890" y="226717"/>
            <a:ext cx="1298121" cy="51724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Agent TAC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30211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89" y="160750"/>
            <a:ext cx="7886700" cy="517248"/>
          </a:xfrm>
        </p:spPr>
        <p:txBody>
          <a:bodyPr/>
          <a:lstStyle/>
          <a:p>
            <a:r>
              <a:rPr lang="fr-FR" sz="1400" b="1" dirty="0"/>
              <a:t>Fine-tuning pour la génération de concepts – Brique 4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3E1AC10-1D7A-E55C-AA3F-CE69D4785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855" y="1272972"/>
            <a:ext cx="4526289" cy="270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4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Fine-tuning pour la génération de concepts – Brique 4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499995E-40EB-AEEF-BD46-7042D7D182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664"/>
            <a:ext cx="2958737" cy="171234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4B11DEA-CB92-3099-31C5-D7962A214B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205" y="861856"/>
            <a:ext cx="3107542" cy="162228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C5F74F6-F888-8F3F-AB04-CA67188CCFD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215" y="866482"/>
            <a:ext cx="2927951" cy="169452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E0580F0-49DF-608C-078B-CFE669B0A8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1750"/>
            <a:ext cx="2987205" cy="208129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C1DB164-7C38-797C-F33B-7AB5E2D27FD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397" y="2569828"/>
            <a:ext cx="2987205" cy="208129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EC0EB06-5DEE-F762-EC44-3076E2D6EA7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63" y="2655649"/>
            <a:ext cx="2740854" cy="19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7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0B08BE-ED56-11D0-D34B-A39AFC287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4736" y="232827"/>
            <a:ext cx="324319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Évaluation du fine-tuning – Brique 4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82DC8A3-4BBB-E0AF-FFF9-A1E86C1F65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2" y="873238"/>
            <a:ext cx="2817000" cy="160146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91547E4-1539-9B36-9951-8E3F4E5C01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500" y="873238"/>
            <a:ext cx="2817000" cy="160146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81B3626-08CE-7493-470D-7DC73A4C79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608" y="873238"/>
            <a:ext cx="2817000" cy="160146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4061A6F-CFD7-1F26-3267-0AFB310BFC9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2" y="2807335"/>
            <a:ext cx="2885701" cy="135813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A4F674C-2BA2-BED7-EE27-FC38FB9BED3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149" y="2796875"/>
            <a:ext cx="2885701" cy="135813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54C0D4E-3458-22BE-903A-203E43C07C9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257" y="2773303"/>
            <a:ext cx="2885701" cy="135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3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47" y="141155"/>
            <a:ext cx="7886700" cy="517248"/>
          </a:xfrm>
        </p:spPr>
        <p:txBody>
          <a:bodyPr/>
          <a:lstStyle/>
          <a:p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Évaluation du fine-tuning – Brique 4</a:t>
            </a:r>
            <a:endParaRPr lang="fr-FR" sz="14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738448B-1F13-8E61-7622-CCACC06150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18" y="964622"/>
            <a:ext cx="3414747" cy="160712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08C120E-2F0E-527C-A78B-2301241ADC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568" y="921586"/>
            <a:ext cx="3597628" cy="169319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00CB24F-28DD-7978-0CCD-7EFFAFD421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083" y="2776894"/>
            <a:ext cx="3597628" cy="169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0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41" y="131995"/>
            <a:ext cx="7886700" cy="517248"/>
          </a:xfrm>
        </p:spPr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37BDC93-C808-2001-3E74-EA46C2AF5318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08A622C-1B16-72EB-5BD6-1073816564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90" y="953027"/>
            <a:ext cx="2914368" cy="334181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4A394FD-70DB-4ED0-DDBF-A8DEAA7366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157" y="953027"/>
            <a:ext cx="2914368" cy="334181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92F9C50-AB5A-851B-F4B8-5DAA448E74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04" y="953027"/>
            <a:ext cx="2914369" cy="334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4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78" y="121561"/>
            <a:ext cx="7886700" cy="517248"/>
          </a:xfrm>
        </p:spPr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endParaRPr lang="fr-FR" sz="14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12E30A-1B2C-34E3-8B3F-9E60A7053B4D}"/>
              </a:ext>
            </a:extLst>
          </p:cNvPr>
          <p:cNvSpPr/>
          <p:nvPr/>
        </p:nvSpPr>
        <p:spPr>
          <a:xfrm>
            <a:off x="418405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12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C09ECE3-0FB5-E180-2C9F-6485242E79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2" y="952618"/>
            <a:ext cx="2968470" cy="340384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430A209-98F5-2323-4B51-D43A7EBE93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254" y="952617"/>
            <a:ext cx="2968470" cy="340384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B5DD112-2471-AC8D-85E1-B613345456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940" y="952617"/>
            <a:ext cx="2968470" cy="340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0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r>
              <a:rPr lang="fr-FR" sz="1400" b="1" dirty="0"/>
              <a:t> + fine-tuning – Brique 4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8C8352E-EE69-3AFF-BA3A-63C2E32C6F8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13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411131-CB1A-BCB9-AF48-561971CF5B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1" y="949860"/>
            <a:ext cx="2917132" cy="334497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168DF77-BAC6-F102-62E0-E839743671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168" y="949860"/>
            <a:ext cx="2917132" cy="334497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5D626F5-1E77-3B5B-59E5-70C1FC9C33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336" y="949860"/>
            <a:ext cx="2917133" cy="334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3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r>
              <a:rPr lang="fr-FR" sz="1400" b="1" dirty="0"/>
              <a:t> + fine-tuning – Brique 4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49B1AE6-3A73-3938-F0F5-59D138F0A8FE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14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E7E9A7-BCE7-4AC6-9E48-088696245A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1" y="986469"/>
            <a:ext cx="2885206" cy="330837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EB1562B-D520-1D82-227D-9BF53D98A4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397" y="986467"/>
            <a:ext cx="2885206" cy="330837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FA03136-637E-5DD4-1D67-B206B8812F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593" y="986467"/>
            <a:ext cx="2859206" cy="327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5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Fine-tuning pour la génération de concepts – Brique 5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D6133AC-C246-905C-C0C6-92F0AED2B68B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C4426F-3D37-2A45-E4F8-B1DFB4DC92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940" y="644809"/>
            <a:ext cx="3008212" cy="41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8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Fine-tuning pour la génération de concepts – Brique 5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5139919-833D-EFC8-E796-DC45F0C8453A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16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7083C0F-308A-C086-2429-2BA3B78160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88" y="921308"/>
            <a:ext cx="2597351" cy="165044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4B87F19-EFEA-A884-370C-2514E4CBC2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498" y="921308"/>
            <a:ext cx="2851785" cy="165044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B41329E-CB0F-66E0-837E-7DD5B4B110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542" y="921309"/>
            <a:ext cx="2597349" cy="165044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380166D-2BB1-EEB6-37A8-0D7817A00C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19" y="2728085"/>
            <a:ext cx="2634913" cy="161608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EEF9207-723C-3079-E0F7-5A0EDF5EC4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498" y="2697555"/>
            <a:ext cx="2851785" cy="174909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6F9E23E3-E802-0BB3-113A-67A13B97EFB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45" y="2728085"/>
            <a:ext cx="2690936" cy="165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0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r>
              <a:rPr lang="fr-FR" sz="1400" b="1" dirty="0"/>
              <a:t> + fine-tuning – Brique 5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E1389CE-2A0C-D0A7-752E-A5F2F87D94A3}"/>
              </a:ext>
            </a:extLst>
          </p:cNvPr>
          <p:cNvSpPr/>
          <p:nvPr/>
        </p:nvSpPr>
        <p:spPr>
          <a:xfrm>
            <a:off x="418405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17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E935ABE-5F24-A1C3-0CF8-8F4A7AFECE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68" y="951955"/>
            <a:ext cx="2825223" cy="323958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05E4702-561C-3B8C-79D1-2DCB2E3CE3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212" y="951955"/>
            <a:ext cx="2825223" cy="323958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A5AF94B-9DC9-DE69-116C-E6540E4B8C6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877" y="951955"/>
            <a:ext cx="2825223" cy="323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6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sz="1400" b="1" i="0" dirty="0">
                <a:solidFill>
                  <a:schemeClr val="tx1"/>
                </a:solidFill>
                <a:effectLst/>
                <a:latin typeface="Calibri (Corps)"/>
              </a:rPr>
              <a:t>Comparaison des résultats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737AFA5-46D7-C6A8-C812-6150010C0E97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2AAE476-F381-6027-6672-A86D2366E0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1100"/>
            <a:ext cx="9144000" cy="36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54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r>
              <a:rPr lang="fr-FR" sz="1400" b="1" dirty="0"/>
              <a:t> : </a:t>
            </a:r>
            <a:r>
              <a:rPr lang="en-US" sz="1400" b="1" dirty="0"/>
              <a:t>Thesaurus </a:t>
            </a:r>
            <a:endParaRPr lang="fr-FR" sz="14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6BAEA7D-A599-1403-E108-F868C28AF30E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19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492F6DC-97E2-5732-B245-B6F3AE0BB6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1" y="848663"/>
            <a:ext cx="2616211" cy="163103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B17B46F-85A4-92E3-E36E-A01582E85E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1" y="2556773"/>
            <a:ext cx="2519072" cy="203914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F6C2F3A-9CE8-7A68-85A6-BD215EC600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641" y="2571749"/>
            <a:ext cx="2446234" cy="198018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53510C78-99D5-92A8-1693-9B911338C0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652" y="848663"/>
            <a:ext cx="2616212" cy="163103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EDFDB0F-07DB-AA79-1E9E-10CC6F698F0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495" y="2601680"/>
            <a:ext cx="2323988" cy="188122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63F6A3FE-AA6E-91CC-015E-16598C80E95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142" y="848663"/>
            <a:ext cx="2616212" cy="163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r>
              <a:rPr lang="fr-FR" sz="1400" b="1" dirty="0"/>
              <a:t> :</a:t>
            </a:r>
            <a:r>
              <a:rPr lang="en-US" sz="1400" b="1" dirty="0"/>
              <a:t>Thesaurus </a:t>
            </a:r>
            <a:endParaRPr lang="fr-FR" sz="14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AA23A4D-5468-0225-3AD3-AC542C90D215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E38B3DA-1761-FC00-C1FD-D892D59043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" y="886528"/>
            <a:ext cx="2349108" cy="190155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8F13A5A-56FA-B074-15AD-D3F9516369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5" y="2973574"/>
            <a:ext cx="2579309" cy="160803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9D83250-AF99-420A-CF9B-1B01629FC86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348" y="912847"/>
            <a:ext cx="2349108" cy="190155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E3BE541-8774-7BDD-A3DA-4B53F30DEC9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610" y="2963141"/>
            <a:ext cx="2642489" cy="164741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64DBAB2-522D-737C-11DA-FE67F3E667B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687" y="932594"/>
            <a:ext cx="2397455" cy="194069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BF3D092B-72C5-B083-FD7C-962D5FC2A0B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391" y="2963141"/>
            <a:ext cx="2596045" cy="161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9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r>
              <a:rPr lang="fr-FR" sz="1400" b="1" dirty="0"/>
              <a:t> + fine-tuning – Brique 4 : </a:t>
            </a:r>
            <a:r>
              <a:rPr lang="en-US" sz="14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Thesaurus </a:t>
            </a:r>
            <a:endParaRPr lang="fr-FR" sz="14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13A4BF0-F777-9FEE-AD25-B6B752B4987C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21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417A104-8473-A351-A3D9-ECAA6D0700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13" y="907446"/>
            <a:ext cx="2470036" cy="188005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B5F7242-916C-3C7D-7156-20F1EC45F2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0" y="2886319"/>
            <a:ext cx="2651923" cy="155457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C0171CD-D32C-57F0-CDF6-8AA63ECC6E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660" y="919245"/>
            <a:ext cx="2263891" cy="177540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100169D-53D0-E79F-00F1-262817CD60D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960" y="2862743"/>
            <a:ext cx="2651923" cy="160172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7F09DDD-AB3F-4760-6E15-8B49428F20A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70" y="907446"/>
            <a:ext cx="2488237" cy="1887556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DE94020-00B3-BA55-E966-B9F06AEA4D4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716" y="2886428"/>
            <a:ext cx="2741546" cy="160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3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dirty="0"/>
              <a:t>Évaluation de l’approche </a:t>
            </a:r>
            <a:r>
              <a:rPr lang="fr-FR" sz="1400" b="1" dirty="0" err="1"/>
              <a:t>GraphRAG</a:t>
            </a:r>
            <a:r>
              <a:rPr lang="fr-FR" sz="1400" b="1" dirty="0"/>
              <a:t> + fine-tuning – Brique 4 : </a:t>
            </a:r>
            <a:r>
              <a:rPr lang="en-US" sz="14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Thesaurus </a:t>
            </a:r>
            <a:endParaRPr lang="fr-FR" sz="14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6EA1884-5108-F152-994B-405ECC9EF94F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22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8B7DF01-7E81-1F0C-5262-84EA59E01A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78" y="2569309"/>
            <a:ext cx="2489620" cy="185899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DBB8C15-C2F0-69EB-CB89-3BDF22B00B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78" y="898655"/>
            <a:ext cx="2520536" cy="144951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C9AAB76-EC4B-B52C-7BAA-2832CFA143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286" y="2607818"/>
            <a:ext cx="2367643" cy="182049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0FB70C2-C351-00F1-9AB6-A8FEC6CE47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241" y="898655"/>
            <a:ext cx="2425977" cy="143662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9CD423E-94D1-5A27-0E91-180731B207A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645" y="2568659"/>
            <a:ext cx="2471687" cy="183953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6CEAD4B-DD24-BF8C-452E-4E3E095053C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994" y="911548"/>
            <a:ext cx="2506360" cy="143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9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400" b="1" i="0" dirty="0">
                <a:solidFill>
                  <a:schemeClr val="tx1"/>
                </a:solidFill>
                <a:effectLst/>
                <a:latin typeface="Calibri (Corps)"/>
              </a:rPr>
              <a:t>Comparaison des résultats</a:t>
            </a:r>
            <a:endParaRPr lang="fr-FR" sz="14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6A88C2C-7573-462A-F9C1-A7AFF676D4BD}"/>
              </a:ext>
            </a:extLst>
          </p:cNvPr>
          <p:cNvSpPr/>
          <p:nvPr/>
        </p:nvSpPr>
        <p:spPr>
          <a:xfrm>
            <a:off x="4176431" y="4800648"/>
            <a:ext cx="51076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23</a:t>
            </a:r>
            <a:endParaRPr lang="fr-FR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4CD0198-C586-0747-314B-AFA5EEB30F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88" y="848663"/>
            <a:ext cx="8151223" cy="378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3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251</Words>
  <Application>Microsoft Office PowerPoint</Application>
  <PresentationFormat>Affichage à l'écran (16:9)</PresentationFormat>
  <Paragraphs>51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Calibri (Corps)</vt:lpstr>
      <vt:lpstr>Times New Roman</vt:lpstr>
      <vt:lpstr>Thème Office</vt:lpstr>
      <vt:lpstr>Agent TAC</vt:lpstr>
      <vt:lpstr>Plan de la présentation</vt:lpstr>
      <vt:lpstr>Présentation PowerPoint</vt:lpstr>
      <vt:lpstr>Fine-tuning pour la génération de concepts – Brique 4</vt:lpstr>
      <vt:lpstr>Fine-tuning pour la génération de concepts – Brique 4</vt:lpstr>
      <vt:lpstr>Évaluation du fine-tuning – Brique 4</vt:lpstr>
      <vt:lpstr>Évaluation du fine-tuning – Brique 4</vt:lpstr>
      <vt:lpstr>Évaluation de l’approche GraphRAG</vt:lpstr>
      <vt:lpstr>Évaluation de l’approche GraphRAG</vt:lpstr>
      <vt:lpstr>Évaluation de l’approche GraphRAG + fine-tuning – Brique 4</vt:lpstr>
      <vt:lpstr>Évaluation de l’approche GraphRAG + fine-tuning – Brique 4</vt:lpstr>
      <vt:lpstr>Fine-tuning pour la génération de concepts – Brique 5</vt:lpstr>
      <vt:lpstr>Fine-tuning pour la génération de concepts – Brique 5</vt:lpstr>
      <vt:lpstr>Évaluation de l’approche GraphRAG + fine-tuning – Brique 5</vt:lpstr>
      <vt:lpstr>Comparaison des résultats</vt:lpstr>
      <vt:lpstr>Évaluation de l’approche GraphRAG : Thesaurus </vt:lpstr>
      <vt:lpstr>Évaluation de l’approche GraphRAG :Thesaurus </vt:lpstr>
      <vt:lpstr>Évaluation de l’approche GraphRAG + fine-tuning – Brique 4 : Thesaurus </vt:lpstr>
      <vt:lpstr>Évaluation de l’approche GraphRAG + fine-tuning – Brique 4 : Thesaurus </vt:lpstr>
      <vt:lpstr>Comparaison des résultats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171</cp:revision>
  <dcterms:created xsi:type="dcterms:W3CDTF">2026-05-20T12:58:41Z</dcterms:created>
  <dcterms:modified xsi:type="dcterms:W3CDTF">2026-10-16T14:56:26Z</dcterms:modified>
</cp:coreProperties>
</file>
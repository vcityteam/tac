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302" r:id="rId5"/>
    <p:sldId id="285" r:id="rId6"/>
    <p:sldId id="286" r:id="rId7"/>
    <p:sldId id="312" r:id="rId8"/>
    <p:sldId id="313" r:id="rId9"/>
    <p:sldId id="303" r:id="rId10"/>
    <p:sldId id="314" r:id="rId11"/>
    <p:sldId id="315" r:id="rId12"/>
    <p:sldId id="304" r:id="rId13"/>
    <p:sldId id="316" r:id="rId14"/>
    <p:sldId id="317" r:id="rId15"/>
    <p:sldId id="305" r:id="rId16"/>
    <p:sldId id="318" r:id="rId17"/>
    <p:sldId id="319" r:id="rId18"/>
    <p:sldId id="306" r:id="rId19"/>
    <p:sldId id="320" r:id="rId20"/>
    <p:sldId id="321" r:id="rId21"/>
    <p:sldId id="307" r:id="rId22"/>
    <p:sldId id="322" r:id="rId23"/>
    <p:sldId id="323" r:id="rId24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4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18/09/2026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18/09/2026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/>
          </a:bodyPr>
          <a:lstStyle/>
          <a:p>
            <a:r>
              <a:rPr lang="fr-FR" b="1" dirty="0"/>
              <a:t>Service LLM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251960" y="3752836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/>
              <a:t>09/18/2026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102389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1 -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GraphRAG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Évaluation de la base vectorielle </a:t>
            </a:r>
            <a:endParaRPr lang="fr-FR" sz="2000" b="1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1A1C20A-93D1-B34B-C6A9-8CB8D3FF753F}"/>
              </a:ext>
            </a:extLst>
          </p:cNvPr>
          <p:cNvSpPr txBox="1">
            <a:spLocks/>
          </p:cNvSpPr>
          <p:nvPr/>
        </p:nvSpPr>
        <p:spPr>
          <a:xfrm>
            <a:off x="690065" y="155235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2 - Tableau statistiques </a:t>
            </a:r>
            <a:r>
              <a:rPr lang="fr-FR" sz="2000" b="1" dirty="0" err="1"/>
              <a:t>similarite</a:t>
            </a:r>
            <a:endParaRPr lang="fr-FR" sz="2000" b="1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369AB3A-5607-3BE2-91D6-DAF943A6D2D2}"/>
              </a:ext>
            </a:extLst>
          </p:cNvPr>
          <p:cNvSpPr txBox="1">
            <a:spLocks/>
          </p:cNvSpPr>
          <p:nvPr/>
        </p:nvSpPr>
        <p:spPr>
          <a:xfrm>
            <a:off x="690065" y="2069599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3 – Distribution tranches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13ECCE4-94CB-D32A-6EA9-CE672EB6A950}"/>
              </a:ext>
            </a:extLst>
          </p:cNvPr>
          <p:cNvSpPr txBox="1">
            <a:spLocks/>
          </p:cNvSpPr>
          <p:nvPr/>
        </p:nvSpPr>
        <p:spPr>
          <a:xfrm>
            <a:off x="690065" y="2606898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4 – </a:t>
            </a:r>
            <a:r>
              <a:rPr lang="fr-FR" sz="2000" b="1" dirty="0">
                <a:solidFill>
                  <a:schemeClr val="tx1"/>
                </a:solidFill>
              </a:rPr>
              <a:t>Exemples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GraphRAG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Évaluation de la base vectorielle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theso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FB7B9AE-A868-D7C1-1A8E-7880C37EC0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570" y="848663"/>
            <a:ext cx="3159552" cy="3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3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GraphRAG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Évaluation de la base vectorielle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theso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28F33A6-DD8A-EC2C-B6F4-2A3B04E21A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987" y="1365911"/>
            <a:ext cx="4083057" cy="227484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F80C551-5738-418C-E721-22A2749FD7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92" y="1365911"/>
            <a:ext cx="4265337" cy="227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5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Approche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GraphRAG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Évaluation de la base vectorielle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theso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2E33D165-19F0-0B9D-2934-E4F00C1DB7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310" y="1649455"/>
            <a:ext cx="4083057" cy="227484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34328B4-15CD-F20F-C6AA-983443E1BE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12" y="1649455"/>
            <a:ext cx="3937601" cy="234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9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Tableau statistiques </a:t>
            </a:r>
            <a:r>
              <a:rPr lang="fr-FR" sz="2000" b="1" dirty="0" err="1"/>
              <a:t>similarite</a:t>
            </a:r>
            <a:r>
              <a:rPr lang="fr-FR" sz="2000" b="1" dirty="0"/>
              <a:t> : llama3_1_8b_brique_0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6890642A-265B-3512-6C29-44598777A2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495"/>
            <a:ext cx="9144000" cy="281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1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Distribution tranches : llama3_1_8b_brique_0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76B2E5-21EB-F166-A6D0-2E7BFBCB0F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" y="1120098"/>
            <a:ext cx="7155180" cy="321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77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Fiche : Llama_brique_0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29308E5-D28F-5D2D-4B96-D9C339E983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31" y="848663"/>
            <a:ext cx="5816589" cy="367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43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Tableau statistiques </a:t>
            </a:r>
            <a:r>
              <a:rPr lang="fr-FR" sz="2000" b="1" dirty="0" err="1"/>
              <a:t>similarite</a:t>
            </a:r>
            <a:r>
              <a:rPr lang="fr-FR" sz="2000" b="1" dirty="0"/>
              <a:t> : mistral_7B_brique_0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20280C9-FA10-25A4-29AF-AE95D42919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495"/>
            <a:ext cx="9144000" cy="281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7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Distribution tranches : mistral_7B _brique_0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106952" y="4780873"/>
            <a:ext cx="518388" cy="2901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3C7534F-7B6D-6E9C-E0B9-15A787C3BA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15" y="1033737"/>
            <a:ext cx="7475220" cy="33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8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Fiche : mistral_7B _brique_0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  <a:endParaRPr lang="fr-FR" b="1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9366811-00BA-F3BF-727F-331F379978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341" y="901116"/>
            <a:ext cx="6176010" cy="370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1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Tableau statistiques </a:t>
            </a:r>
            <a:r>
              <a:rPr lang="fr-FR" sz="2000" b="1" dirty="0" err="1"/>
              <a:t>similarite</a:t>
            </a:r>
            <a:r>
              <a:rPr lang="fr-FR" sz="2000" b="1" dirty="0"/>
              <a:t> : Qwen2.5-7B_brique_0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73EE5BD-F5FE-5CFF-350F-B6D19B7133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495"/>
            <a:ext cx="9144000" cy="2812510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51FE22B1-FBB0-CC64-D141-7027B8ADF1D8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12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52784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Distribution tranches : Qwen2.5-7B _brique_0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B21997A-7B28-F3F8-0FC7-30D864685C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30" y="1026895"/>
            <a:ext cx="7490460" cy="3362690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F49E3A55-205F-6213-C5CA-5348C33A99A4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13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17226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Fiche : Qwen2.5-7B _brique_0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C0A52EE-945D-1EF8-A0C2-4E4C36D5EB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644" y="975360"/>
            <a:ext cx="5758395" cy="3455037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9933E5DF-A031-9DB2-F002-E0F88CE5B97C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14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1002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Tableau statistiques </a:t>
            </a:r>
            <a:r>
              <a:rPr lang="fr-FR" sz="2000" b="1" dirty="0" err="1"/>
              <a:t>similarite</a:t>
            </a:r>
            <a:r>
              <a:rPr lang="fr-FR" sz="2000" b="1" dirty="0"/>
              <a:t> : llama3_1_8b_brique_ALL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82E033-6AA3-BEDC-7B54-279D9ACE46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8994"/>
            <a:ext cx="9144000" cy="2585511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0B465DA3-0C75-1838-62DD-5EE62D4E7C36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77383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Distribution tranches : llama3_1_8b_brique_ALL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E47E1E0-CD7D-A30D-CB61-7C9A190198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0" y="992687"/>
            <a:ext cx="7566660" cy="3396898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D68157D2-01CD-2452-C805-EA83F7274C41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16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73228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Fiche : </a:t>
            </a:r>
            <a:r>
              <a:rPr lang="fr-FR" sz="2000" b="1" dirty="0" err="1"/>
              <a:t>Llama_brique_ALL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D2D1820-4551-74AE-6F44-6FFB8C5CC9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15" y="870234"/>
            <a:ext cx="5879461" cy="3711900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C163119-3A94-8F94-E784-3819F26AA700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17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44862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Tableau statistiques </a:t>
            </a:r>
            <a:r>
              <a:rPr lang="fr-FR" sz="2000" b="1" dirty="0" err="1"/>
              <a:t>similarite</a:t>
            </a:r>
            <a:r>
              <a:rPr lang="fr-FR" sz="2000" b="1" dirty="0"/>
              <a:t> : mistral_7B_brique_ALL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29C2EE0-794E-BE4E-95B7-D0F2980191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8994"/>
            <a:ext cx="9144000" cy="2585511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ECAC2E59-5B76-6AB0-1D1F-D6883ADA5A7A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07541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Distribution tranches : </a:t>
            </a:r>
            <a:r>
              <a:rPr lang="fr-FR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mistral_7B </a:t>
            </a:r>
            <a:r>
              <a:rPr lang="fr-FR" sz="2000" b="1" dirty="0"/>
              <a:t>_brique_ALL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49E88DB-5A39-B105-AF08-22DC17307A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" y="1034994"/>
            <a:ext cx="7604760" cy="3414002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211FF0EC-F795-09FE-8D8F-B897D35A58A5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19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68386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Fiche : </a:t>
            </a:r>
            <a:r>
              <a:rPr lang="fr-FR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mistral_7B </a:t>
            </a:r>
            <a:r>
              <a:rPr lang="fr-FR" sz="2000" b="1" dirty="0"/>
              <a:t>_</a:t>
            </a:r>
            <a:r>
              <a:rPr lang="fr-FR" sz="2000" b="1" dirty="0" err="1"/>
              <a:t>brique_ALL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29F3F8B-0529-E8BE-3063-135EC4707C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225" y="848663"/>
            <a:ext cx="6024241" cy="3803304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2102FC4E-751D-F089-26D8-D425E86C587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20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236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Tableau statistiques </a:t>
            </a:r>
            <a:r>
              <a:rPr lang="fr-FR" sz="2000" b="1" dirty="0" err="1"/>
              <a:t>similarite</a:t>
            </a:r>
            <a:r>
              <a:rPr lang="fr-FR" sz="2000" b="1" dirty="0"/>
              <a:t> : Qwen2.5-7B_brique_ALL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AAFC8E2-4F26-C22B-C832-0F12C10118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8994"/>
            <a:ext cx="9144000" cy="2585511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05A37680-6FB6-9347-7ECB-9B670D5BF28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21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68450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Distribution tranches : </a:t>
            </a:r>
            <a:r>
              <a:rPr lang="fr-FR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Qwen2.5-7B </a:t>
            </a:r>
            <a:r>
              <a:rPr lang="fr-FR" sz="2000" b="1" dirty="0"/>
              <a:t>_</a:t>
            </a:r>
            <a:r>
              <a:rPr lang="fr-FR" sz="2000" b="1" dirty="0" err="1"/>
              <a:t>brique_ALL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25833B5-765D-CA90-1B0A-69EEB8B74C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77002"/>
            <a:ext cx="7886700" cy="3540574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61E9C3AD-728A-09B8-1553-995EC1B3764A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22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88179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/>
              <a:t>Fiche : </a:t>
            </a:r>
            <a:r>
              <a:rPr lang="fr-FR" sz="1800" b="1" kern="1200" dirty="0">
                <a:solidFill>
                  <a:srgbClr val="184A7C"/>
                </a:solidFill>
                <a:effectLst/>
                <a:latin typeface="Calibri" panose="020F0502020204030204" pitchFamily="34" charset="0"/>
                <a:ea typeface="+mj-ea"/>
                <a:cs typeface="+mj-cs"/>
              </a:rPr>
              <a:t>Qwen2.5-7B </a:t>
            </a:r>
            <a:r>
              <a:rPr lang="fr-FR" sz="2000" b="1" dirty="0"/>
              <a:t>_</a:t>
            </a:r>
            <a:r>
              <a:rPr lang="fr-FR" sz="2000" b="1" dirty="0" err="1"/>
              <a:t>brique_ALL</a:t>
            </a:r>
            <a:endParaRPr lang="fr-FR" sz="2000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66F5DDE6-73A3-49AD-C11B-62F27B1BBBE7}"/>
              </a:ext>
            </a:extLst>
          </p:cNvPr>
          <p:cNvSpPr txBox="1">
            <a:spLocks/>
          </p:cNvSpPr>
          <p:nvPr/>
        </p:nvSpPr>
        <p:spPr>
          <a:xfrm>
            <a:off x="628650" y="848663"/>
            <a:ext cx="3533223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FA4AC26-F2BC-F688-3091-E3C6F1986B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809" y="998220"/>
            <a:ext cx="5553057" cy="3505830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571AAD90-A28D-C239-2C43-424DC5FC191E}"/>
              </a:ext>
            </a:extLst>
          </p:cNvPr>
          <p:cNvSpPr/>
          <p:nvPr/>
        </p:nvSpPr>
        <p:spPr>
          <a:xfrm>
            <a:off x="4147532" y="4761309"/>
            <a:ext cx="510768" cy="29014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23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9007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0</TotalTime>
  <Words>234</Words>
  <Application>Microsoft Office PowerPoint</Application>
  <PresentationFormat>Affichage à l'écran (16:9)</PresentationFormat>
  <Paragraphs>50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Thème Office</vt:lpstr>
      <vt:lpstr>Service LLM</vt:lpstr>
      <vt:lpstr>Plan de la présentation</vt:lpstr>
      <vt:lpstr>Approche GraphRAG : Évaluation de la base vectorielle theso</vt:lpstr>
      <vt:lpstr>Approche GraphRAG : Évaluation de la base vectorielle theso</vt:lpstr>
      <vt:lpstr>Approche GraphRAG : Évaluation de la base vectorielle theso</vt:lpstr>
      <vt:lpstr>Tableau statistiques similarite : llama3_1_8b_brique_0</vt:lpstr>
      <vt:lpstr>Distribution tranches : llama3_1_8b_brique_0</vt:lpstr>
      <vt:lpstr>Fiche : Llama_brique_0</vt:lpstr>
      <vt:lpstr>Tableau statistiques similarite : mistral_7B_brique_0</vt:lpstr>
      <vt:lpstr>Distribution tranches : mistral_7B _brique_0</vt:lpstr>
      <vt:lpstr>Fiche : mistral_7B _brique_0</vt:lpstr>
      <vt:lpstr>Tableau statistiques similarite : Qwen2.5-7B_brique_0</vt:lpstr>
      <vt:lpstr>Distribution tranches : Qwen2.5-7B _brique_0</vt:lpstr>
      <vt:lpstr>Fiche : Qwen2.5-7B _brique_0</vt:lpstr>
      <vt:lpstr>Tableau statistiques similarite : llama3_1_8b_brique_ALL</vt:lpstr>
      <vt:lpstr>Distribution tranches : llama3_1_8b_brique_ALL</vt:lpstr>
      <vt:lpstr>Fiche : Llama_brique_ALL</vt:lpstr>
      <vt:lpstr>Tableau statistiques similarite : mistral_7B_brique_ALL</vt:lpstr>
      <vt:lpstr>Distribution tranches : mistral_7B _brique_ALL</vt:lpstr>
      <vt:lpstr>Fiche : mistral_7B _brique_ALL</vt:lpstr>
      <vt:lpstr>Tableau statistiques similarite : Qwen2.5-7B_brique_ALL</vt:lpstr>
      <vt:lpstr>Distribution tranches : Qwen2.5-7B _brique_ALL</vt:lpstr>
      <vt:lpstr>Fiche : Qwen2.5-7B _brique_ALL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54</cp:revision>
  <dcterms:created xsi:type="dcterms:W3CDTF">2026-05-20T12:58:41Z</dcterms:created>
  <dcterms:modified xsi:type="dcterms:W3CDTF">2026-09-18T13:13:38Z</dcterms:modified>
</cp:coreProperties>
</file>
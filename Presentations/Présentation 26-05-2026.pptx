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4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54" autoAdjust="0"/>
    <p:restoredTop sz="94660"/>
  </p:normalViewPr>
  <p:slideViewPr>
    <p:cSldViewPr snapToGrid="0">
      <p:cViewPr varScale="1">
        <p:scale>
          <a:sx n="84" d="100"/>
          <a:sy n="84" d="100"/>
        </p:scale>
        <p:origin x="7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/>
          <p:cNvGrpSpPr/>
          <p:nvPr userDrawn="1"/>
        </p:nvGrpSpPr>
        <p:grpSpPr>
          <a:xfrm>
            <a:off x="0" y="2033540"/>
            <a:ext cx="9144000" cy="1190720"/>
            <a:chOff x="0" y="1701304"/>
            <a:chExt cx="9144000" cy="1470025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1701304"/>
              <a:ext cx="9144000" cy="147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886" y="1701304"/>
              <a:ext cx="4504250" cy="144016"/>
            </a:xfrm>
            <a:prstGeom prst="rect">
              <a:avLst/>
            </a:prstGeom>
            <a:solidFill>
              <a:srgbClr val="B8B9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fr-FR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4639750" y="3027313"/>
              <a:ext cx="4504250" cy="144016"/>
            </a:xfrm>
            <a:prstGeom prst="rect">
              <a:avLst/>
            </a:prstGeom>
            <a:solidFill>
              <a:srgbClr val="B539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093043"/>
            <a:ext cx="6858000" cy="957415"/>
          </a:xfrm>
        </p:spPr>
        <p:txBody>
          <a:bodyPr anchor="ctr" anchorCtr="1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kern="1200" dirty="0">
                <a:solidFill>
                  <a:srgbClr val="184A7C"/>
                </a:solidFill>
                <a:latin typeface="+mn-lt"/>
                <a:ea typeface="+mj-ea"/>
                <a:cs typeface="Arial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3311CEC2-7E8B-58D8-CCB0-C646E738E32C}"/>
              </a:ext>
            </a:extLst>
          </p:cNvPr>
          <p:cNvGrpSpPr/>
          <p:nvPr userDrawn="1"/>
        </p:nvGrpSpPr>
        <p:grpSpPr>
          <a:xfrm>
            <a:off x="1" y="0"/>
            <a:ext cx="9142113" cy="5142439"/>
            <a:chOff x="1" y="0"/>
            <a:chExt cx="9142113" cy="5142439"/>
          </a:xfrm>
        </p:grpSpPr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2BD1688D-D452-497D-8267-D85AE791BD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" y="0"/>
              <a:ext cx="9142113" cy="5142439"/>
            </a:xfrm>
            <a:prstGeom prst="rect">
              <a:avLst/>
            </a:prstGeom>
          </p:spPr>
        </p:pic>
        <p:pic>
          <p:nvPicPr>
            <p:cNvPr id="4" name="Image 3" descr="Une image contenant Police, Graphique, logo, cercle&#10;&#10;Description générée automatiquement">
              <a:extLst>
                <a:ext uri="{FF2B5EF4-FFF2-40B4-BE49-F238E27FC236}">
                  <a16:creationId xmlns:a16="http://schemas.microsoft.com/office/drawing/2014/main" id="{663BE605-13D5-1670-1227-4654C075B8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091" y="4202868"/>
              <a:ext cx="681296" cy="6719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50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140A2D93-1740-4C6F-BAE9-B580F7FCE4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34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BCDAC507-911E-4D9A-9367-5747FA03C3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3464651"/>
            <a:ext cx="7886700" cy="754227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213356"/>
            <a:ext cx="7886700" cy="1022855"/>
          </a:xfrm>
        </p:spPr>
        <p:txBody>
          <a:bodyPr anchor="b" anchorCtr="0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395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FA5D0A9F-8F33-4831-AD7D-2432557235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79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5">
            <a:extLst>
              <a:ext uri="{FF2B5EF4-FFF2-40B4-BE49-F238E27FC236}">
                <a16:creationId xmlns:a16="http://schemas.microsoft.com/office/drawing/2014/main" id="{0DF48902-085D-4BC8-BCCD-313EBE1A0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73811"/>
            <a:ext cx="7886700" cy="51274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973706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589494"/>
            <a:ext cx="3868340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973706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589494"/>
            <a:ext cx="3887391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3167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que 11">
            <a:extLst>
              <a:ext uri="{FF2B5EF4-FFF2-40B4-BE49-F238E27FC236}">
                <a16:creationId xmlns:a16="http://schemas.microsoft.com/office/drawing/2014/main" id="{D2195C6D-45B2-4126-88D3-5A236E8B55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842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ed de pag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22DBC290-2349-4FC5-ABDF-9CB28F53CE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1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118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7158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3880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556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56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70751FDA-1D85-4E19-80EA-B0CE6B0CE4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" y="0"/>
            <a:ext cx="9143998" cy="514349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7381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6461"/>
            <a:ext cx="7886700" cy="3716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7125" y="4797491"/>
            <a:ext cx="86443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fld id="{51A6EA8C-2C90-4E49-8C34-37882B6FFE4F}" type="datetimeFigureOut">
              <a:rPr lang="fr-FR" smtClean="0"/>
              <a:pPr/>
              <a:t>28/05/2026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97491"/>
            <a:ext cx="425831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648" y="4797491"/>
            <a:ext cx="6107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184A7C"/>
                </a:solidFill>
              </a:defRPr>
            </a:lvl1pPr>
          </a:lstStyle>
          <a:p>
            <a:fld id="{33B8C7BD-462B-48D7-8427-09CAA7096E3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871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2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184A7C"/>
          </a:solidFill>
          <a:latin typeface="+mn-lt"/>
          <a:ea typeface="+mj-ea"/>
          <a:cs typeface="+mj-cs"/>
        </a:defRPr>
      </a:lvl1pPr>
    </p:titleStyle>
    <p:bodyStyle>
      <a:lvl1pPr marL="342900" marR="0" indent="-3429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6"/>
        </a:buBlip>
        <a:tabLst/>
        <a:defRPr sz="2400" b="1" kern="1200">
          <a:solidFill>
            <a:srgbClr val="184A7C"/>
          </a:solidFill>
          <a:latin typeface="+mn-lt"/>
          <a:ea typeface="+mn-ea"/>
          <a:cs typeface="+mn-cs"/>
        </a:defRPr>
      </a:lvl1pPr>
      <a:lvl2pPr marL="533400" marR="0" indent="-28575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7"/>
        </a:buBlip>
        <a:tabLst/>
        <a:defRPr sz="2000" kern="1200">
          <a:solidFill>
            <a:srgbClr val="184A7C"/>
          </a:solidFill>
          <a:latin typeface="+mn-lt"/>
          <a:ea typeface="+mn-ea"/>
          <a:cs typeface="+mn-cs"/>
        </a:defRPr>
      </a:lvl2pPr>
      <a:lvl3pPr marL="717550" marR="0" indent="-2667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8"/>
        </a:buBlip>
        <a:tabLst/>
        <a:defRPr sz="1800" kern="1200">
          <a:solidFill>
            <a:srgbClr val="184A7C"/>
          </a:solidFill>
          <a:latin typeface="+mn-lt"/>
          <a:ea typeface="+mn-ea"/>
          <a:cs typeface="+mn-cs"/>
        </a:defRPr>
      </a:lvl3pPr>
      <a:lvl4pPr marL="987425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9"/>
        </a:buBlip>
        <a:tabLst/>
        <a:defRPr sz="1600" i="1" kern="1200">
          <a:solidFill>
            <a:srgbClr val="184A7C"/>
          </a:solidFill>
          <a:latin typeface="+mn-lt"/>
          <a:ea typeface="+mn-ea"/>
          <a:cs typeface="+mn-cs"/>
        </a:defRPr>
      </a:lvl4pPr>
      <a:lvl5pPr marL="1246188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20"/>
        </a:buBlip>
        <a:tabLst/>
        <a:defRPr sz="1600" kern="1200">
          <a:solidFill>
            <a:srgbClr val="184A7C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7.jpg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19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7.png"/><Relationship Id="rId3" Type="http://schemas.openxmlformats.org/officeDocument/2006/relationships/image" Target="../media/image19.png"/><Relationship Id="rId7" Type="http://schemas.openxmlformats.org/officeDocument/2006/relationships/image" Target="../media/image38.png"/><Relationship Id="rId12" Type="http://schemas.openxmlformats.org/officeDocument/2006/relationships/image" Target="../media/image6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5.png"/><Relationship Id="rId5" Type="http://schemas.openxmlformats.org/officeDocument/2006/relationships/image" Target="../media/image36.png"/><Relationship Id="rId10" Type="http://schemas.openxmlformats.org/officeDocument/2006/relationships/image" Target="../media/image4.png"/><Relationship Id="rId4" Type="http://schemas.openxmlformats.org/officeDocument/2006/relationships/image" Target="../media/image35.png"/><Relationship Id="rId9" Type="http://schemas.openxmlformats.org/officeDocument/2006/relationships/image" Target="../media/image3.png"/><Relationship Id="rId1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6.png"/><Relationship Id="rId3" Type="http://schemas.openxmlformats.org/officeDocument/2006/relationships/image" Target="../media/image19.png"/><Relationship Id="rId7" Type="http://schemas.openxmlformats.org/officeDocument/2006/relationships/image" Target="../media/image43.png"/><Relationship Id="rId12" Type="http://schemas.openxmlformats.org/officeDocument/2006/relationships/image" Target="../media/image5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.png"/><Relationship Id="rId5" Type="http://schemas.openxmlformats.org/officeDocument/2006/relationships/image" Target="../media/image42.png"/><Relationship Id="rId10" Type="http://schemas.openxmlformats.org/officeDocument/2006/relationships/image" Target="../media/image3.png"/><Relationship Id="rId4" Type="http://schemas.openxmlformats.org/officeDocument/2006/relationships/image" Target="../media/image41.png"/><Relationship Id="rId9" Type="http://schemas.openxmlformats.org/officeDocument/2006/relationships/image" Target="../media/image39.png"/><Relationship Id="rId1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6.png"/><Relationship Id="rId3" Type="http://schemas.openxmlformats.org/officeDocument/2006/relationships/image" Target="../media/image19.png"/><Relationship Id="rId7" Type="http://schemas.openxmlformats.org/officeDocument/2006/relationships/image" Target="../media/image48.png"/><Relationship Id="rId12" Type="http://schemas.openxmlformats.org/officeDocument/2006/relationships/image" Target="../media/image5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4.png"/><Relationship Id="rId5" Type="http://schemas.openxmlformats.org/officeDocument/2006/relationships/image" Target="../media/image46.png"/><Relationship Id="rId10" Type="http://schemas.openxmlformats.org/officeDocument/2006/relationships/image" Target="../media/image3.png"/><Relationship Id="rId4" Type="http://schemas.openxmlformats.org/officeDocument/2006/relationships/image" Target="../media/image45.png"/><Relationship Id="rId9" Type="http://schemas.openxmlformats.org/officeDocument/2006/relationships/image" Target="../media/image39.png"/><Relationship Id="rId1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2001603"/>
            <a:ext cx="6858000" cy="957415"/>
          </a:xfrm>
        </p:spPr>
        <p:txBody>
          <a:bodyPr>
            <a:normAutofit fontScale="90000"/>
          </a:bodyPr>
          <a:lstStyle/>
          <a:p>
            <a:r>
              <a:rPr lang="fr-FR" b="1" dirty="0" err="1"/>
              <a:t>LLMs</a:t>
            </a:r>
            <a:r>
              <a:rPr lang="fr-FR" b="1" dirty="0"/>
              <a:t> et techniques avancées pour la curation automatique des vocabulaires patrimoniaux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E0FD771-3B8E-E019-F742-113477F9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435" y="260848"/>
            <a:ext cx="1510850" cy="7698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82A2454-C9B2-BE92-57E8-25153AF43A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139" y="83770"/>
            <a:ext cx="1162998" cy="11240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EC8B61CB-8CBF-5600-554C-F15221AB377D}"/>
              </a:ext>
            </a:extLst>
          </p:cNvPr>
          <p:cNvSpPr txBox="1">
            <a:spLocks/>
          </p:cNvSpPr>
          <p:nvPr/>
        </p:nvSpPr>
        <p:spPr>
          <a:xfrm>
            <a:off x="1295400" y="2154003"/>
            <a:ext cx="6858000" cy="957415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rgbClr val="184A7C"/>
                </a:solidFill>
                <a:latin typeface="+mn-lt"/>
                <a:ea typeface="+mj-ea"/>
                <a:cs typeface="Arial" pitchFamily="34" charset="0"/>
              </a:defRPr>
            </a:lvl1pPr>
          </a:lstStyle>
          <a:p>
            <a:endParaRPr lang="fr-FR" sz="1050" b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D411B4E-6E61-83A3-154F-38BB12EB8229}"/>
              </a:ext>
            </a:extLst>
          </p:cNvPr>
          <p:cNvSpPr txBox="1"/>
          <p:nvPr/>
        </p:nvSpPr>
        <p:spPr>
          <a:xfrm>
            <a:off x="4160520" y="3787769"/>
            <a:ext cx="112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05/26/2026</a:t>
            </a:r>
          </a:p>
        </p:txBody>
      </p:sp>
    </p:spTree>
    <p:extLst>
      <p:ext uri="{BB962C8B-B14F-4D97-AF65-F5344CB8AC3E}">
        <p14:creationId xmlns:p14="http://schemas.microsoft.com/office/powerpoint/2010/main" val="2663665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8269A5-CF96-3E7C-5130-70C3F432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Plan de la présentation</a:t>
            </a:r>
            <a:endParaRPr lang="fr-FR" b="1" dirty="0">
              <a:cs typeface="Times New Roman" panose="02020603050405020304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158721A1-6C1D-DBB9-C7E8-10C4EAE8B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9E13667-82D6-D2EA-E5DE-939BD12E6A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ECBB2846-27B9-F14D-302B-30ABFCFE0EE1}"/>
              </a:ext>
            </a:extLst>
          </p:cNvPr>
          <p:cNvSpPr txBox="1">
            <a:spLocks/>
          </p:cNvSpPr>
          <p:nvPr/>
        </p:nvSpPr>
        <p:spPr>
          <a:xfrm>
            <a:off x="690065" y="976135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>
                <a:cs typeface="Times New Roman" panose="02020603050405020304" pitchFamily="18" charset="0"/>
              </a:rPr>
              <a:t>1 - </a:t>
            </a:r>
            <a:r>
              <a:rPr lang="fr-FR" sz="2000" b="1" dirty="0"/>
              <a:t>Présentation de mon parcours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ADEB7CC-52F9-CA22-D899-A38EF3503F29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  <a:endParaRPr lang="fr-FR" b="1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74346614-A115-BB1C-0E08-5E06E3160334}"/>
              </a:ext>
            </a:extLst>
          </p:cNvPr>
          <p:cNvSpPr txBox="1">
            <a:spLocks/>
          </p:cNvSpPr>
          <p:nvPr/>
        </p:nvSpPr>
        <p:spPr>
          <a:xfrm>
            <a:off x="690065" y="1519834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2 - Techniques d'optimisation des </a:t>
            </a:r>
            <a:r>
              <a:rPr lang="fr-FR" sz="2000" b="1" dirty="0" err="1"/>
              <a:t>LLMs</a:t>
            </a:r>
            <a:endParaRPr lang="fr-FR" sz="2000" b="1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B199FDD6-6F81-E439-4309-F7F845357805}"/>
              </a:ext>
            </a:extLst>
          </p:cNvPr>
          <p:cNvSpPr txBox="1">
            <a:spLocks/>
          </p:cNvSpPr>
          <p:nvPr/>
        </p:nvSpPr>
        <p:spPr>
          <a:xfrm>
            <a:off x="1011275" y="1953591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600" b="1" dirty="0"/>
              <a:t>2.a – Neuro-</a:t>
            </a:r>
            <a:r>
              <a:rPr lang="fr-FR" sz="1600" b="1" dirty="0" err="1"/>
              <a:t>Symbolic</a:t>
            </a:r>
            <a:r>
              <a:rPr lang="fr-FR" sz="1600" b="1" dirty="0"/>
              <a:t> LLM-SKOS</a:t>
            </a: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DEBB2D2D-26F1-A683-3E55-11536634D0F8}"/>
              </a:ext>
            </a:extLst>
          </p:cNvPr>
          <p:cNvSpPr txBox="1">
            <a:spLocks/>
          </p:cNvSpPr>
          <p:nvPr/>
        </p:nvSpPr>
        <p:spPr>
          <a:xfrm>
            <a:off x="1015961" y="2359215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600" b="1" dirty="0"/>
              <a:t>2.b – </a:t>
            </a:r>
            <a:r>
              <a:rPr lang="fr-FR" sz="1600" b="1" dirty="0" err="1"/>
              <a:t>Retrieval-Augmented</a:t>
            </a:r>
            <a:r>
              <a:rPr lang="fr-FR" sz="1600" b="1" dirty="0"/>
              <a:t> </a:t>
            </a:r>
            <a:r>
              <a:rPr lang="fr-FR" sz="1600" b="1" dirty="0" err="1"/>
              <a:t>Generation</a:t>
            </a:r>
            <a:r>
              <a:rPr lang="fr-FR" sz="1600" b="1" dirty="0"/>
              <a:t> (RAG)</a:t>
            </a: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B8AAEC40-1059-5719-D2F3-177CD9F08384}"/>
              </a:ext>
            </a:extLst>
          </p:cNvPr>
          <p:cNvSpPr txBox="1">
            <a:spLocks/>
          </p:cNvSpPr>
          <p:nvPr/>
        </p:nvSpPr>
        <p:spPr>
          <a:xfrm>
            <a:off x="1020647" y="2750771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600" b="1" dirty="0"/>
              <a:t>2.c – Fine-tuning</a:t>
            </a: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E2FF3980-4528-634B-E092-29FCB129934B}"/>
              </a:ext>
            </a:extLst>
          </p:cNvPr>
          <p:cNvSpPr txBox="1">
            <a:spLocks/>
          </p:cNvSpPr>
          <p:nvPr/>
        </p:nvSpPr>
        <p:spPr>
          <a:xfrm>
            <a:off x="1011266" y="3163425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600" b="1" dirty="0"/>
              <a:t>2.d – Systèmes multi-agents</a:t>
            </a:r>
          </a:p>
        </p:txBody>
      </p:sp>
    </p:spTree>
    <p:extLst>
      <p:ext uri="{BB962C8B-B14F-4D97-AF65-F5344CB8AC3E}">
        <p14:creationId xmlns:p14="http://schemas.microsoft.com/office/powerpoint/2010/main" val="213227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5" grpId="0"/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87D16869-F358-9DDA-59FB-1E3B9DC3CE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401" y="803609"/>
            <a:ext cx="824426" cy="916609"/>
          </a:xfrm>
        </p:spPr>
      </p:pic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EE6ED4F1-DAF2-BA0E-35C4-316FA14C62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4D540A5-2887-9E0F-D4D6-5E30060D0D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C10917A0-17BF-F5AA-C3AD-4C1D13FA33E8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  <a:endParaRPr lang="fr-FR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D93B2AF-6404-0C66-A5C7-B1F554BF38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107" y="3742838"/>
            <a:ext cx="1100920" cy="29135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7B39FE9A-40E6-34B2-8142-F539889E911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447" y="3617012"/>
            <a:ext cx="886449" cy="74698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48E719A-99D0-0E8E-A253-968DFC595A0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6056" y="646020"/>
            <a:ext cx="2629223" cy="122697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36D9DEA8-763E-862E-8AFE-78DCDC4A16D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21" y="3377019"/>
            <a:ext cx="2629223" cy="1226971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9E23AB3-E38E-E6F8-CD0E-83F55EC14B8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901" y="734852"/>
            <a:ext cx="1429746" cy="985366"/>
          </a:xfrm>
          <a:prstGeom prst="rect">
            <a:avLst/>
          </a:prstGeom>
        </p:spPr>
      </p:pic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AC7879A1-2F5E-605B-A3A6-5F3A5DEDF9DE}"/>
              </a:ext>
            </a:extLst>
          </p:cNvPr>
          <p:cNvSpPr/>
          <p:nvPr/>
        </p:nvSpPr>
        <p:spPr>
          <a:xfrm>
            <a:off x="665018" y="2493818"/>
            <a:ext cx="8031018" cy="185085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lèche : haut 19">
            <a:extLst>
              <a:ext uri="{FF2B5EF4-FFF2-40B4-BE49-F238E27FC236}">
                <a16:creationId xmlns:a16="http://schemas.microsoft.com/office/drawing/2014/main" id="{7AE287E9-5E1B-D3F5-0B6E-DB6CD9D450B4}"/>
              </a:ext>
            </a:extLst>
          </p:cNvPr>
          <p:cNvSpPr/>
          <p:nvPr/>
        </p:nvSpPr>
        <p:spPr>
          <a:xfrm>
            <a:off x="863138" y="2170406"/>
            <a:ext cx="110837" cy="358516"/>
          </a:xfrm>
          <a:prstGeom prst="up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lèche : haut 20">
            <a:extLst>
              <a:ext uri="{FF2B5EF4-FFF2-40B4-BE49-F238E27FC236}">
                <a16:creationId xmlns:a16="http://schemas.microsoft.com/office/drawing/2014/main" id="{C7AA8818-FB7C-5CF7-D1F2-AF1EFE6C38E2}"/>
              </a:ext>
            </a:extLst>
          </p:cNvPr>
          <p:cNvSpPr/>
          <p:nvPr/>
        </p:nvSpPr>
        <p:spPr>
          <a:xfrm>
            <a:off x="3521774" y="2170406"/>
            <a:ext cx="110837" cy="358516"/>
          </a:xfrm>
          <a:prstGeom prst="up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lèche : haut 21">
            <a:extLst>
              <a:ext uri="{FF2B5EF4-FFF2-40B4-BE49-F238E27FC236}">
                <a16:creationId xmlns:a16="http://schemas.microsoft.com/office/drawing/2014/main" id="{8CB43AD4-B1AF-4041-CD5A-3E49AC734DD6}"/>
              </a:ext>
            </a:extLst>
          </p:cNvPr>
          <p:cNvSpPr/>
          <p:nvPr/>
        </p:nvSpPr>
        <p:spPr>
          <a:xfrm>
            <a:off x="6454197" y="2172726"/>
            <a:ext cx="110837" cy="358516"/>
          </a:xfrm>
          <a:prstGeom prst="up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Flèche : bas 22">
            <a:extLst>
              <a:ext uri="{FF2B5EF4-FFF2-40B4-BE49-F238E27FC236}">
                <a16:creationId xmlns:a16="http://schemas.microsoft.com/office/drawing/2014/main" id="{4CEC3915-AC48-C233-EFFD-AE286634C1B2}"/>
              </a:ext>
            </a:extLst>
          </p:cNvPr>
          <p:cNvSpPr/>
          <p:nvPr/>
        </p:nvSpPr>
        <p:spPr>
          <a:xfrm>
            <a:off x="2057270" y="2643244"/>
            <a:ext cx="133927" cy="323273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Flèche : bas 23">
            <a:extLst>
              <a:ext uri="{FF2B5EF4-FFF2-40B4-BE49-F238E27FC236}">
                <a16:creationId xmlns:a16="http://schemas.microsoft.com/office/drawing/2014/main" id="{470B43A8-4100-D05C-2FD9-44D29E22058E}"/>
              </a:ext>
            </a:extLst>
          </p:cNvPr>
          <p:cNvSpPr/>
          <p:nvPr/>
        </p:nvSpPr>
        <p:spPr>
          <a:xfrm>
            <a:off x="4885710" y="2643243"/>
            <a:ext cx="133927" cy="323273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Flèche : bas 24">
            <a:extLst>
              <a:ext uri="{FF2B5EF4-FFF2-40B4-BE49-F238E27FC236}">
                <a16:creationId xmlns:a16="http://schemas.microsoft.com/office/drawing/2014/main" id="{0B32A358-A3B9-3688-5FA7-3622CC1550F0}"/>
              </a:ext>
            </a:extLst>
          </p:cNvPr>
          <p:cNvSpPr/>
          <p:nvPr/>
        </p:nvSpPr>
        <p:spPr>
          <a:xfrm>
            <a:off x="7795164" y="2636669"/>
            <a:ext cx="133927" cy="323273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68783A08-274F-7514-78EB-8926491BD5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1191" y="1640395"/>
            <a:ext cx="17620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Licence SMI, parcours </a:t>
            </a:r>
            <a:br>
              <a:rPr kumimoji="0" lang="fr-FR" altLang="fr-F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fr-FR" altLang="fr-F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Développement et Bases de Données</a:t>
            </a:r>
            <a:br>
              <a:rPr kumimoji="0" lang="fr-FR" altLang="fr-F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fr-FR" altLang="fr-F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(09/2019-06/2022)</a:t>
            </a: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0" name="Titre 1">
            <a:extLst>
              <a:ext uri="{FF2B5EF4-FFF2-40B4-BE49-F238E27FC236}">
                <a16:creationId xmlns:a16="http://schemas.microsoft.com/office/drawing/2014/main" id="{FFDDADAC-2F6E-DFAF-7F4B-2FC305F484A9}"/>
              </a:ext>
            </a:extLst>
          </p:cNvPr>
          <p:cNvSpPr txBox="1">
            <a:spLocks/>
          </p:cNvSpPr>
          <p:nvPr/>
        </p:nvSpPr>
        <p:spPr>
          <a:xfrm>
            <a:off x="628650" y="17381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800" b="1" dirty="0"/>
              <a:t>Présentation de mon parcours</a:t>
            </a:r>
            <a:endParaRPr lang="fr-FR" b="1" dirty="0">
              <a:cs typeface="Times New Roman" panose="02020603050405020304" pitchFamily="18" charset="0"/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83FEEC48-5465-BC29-8334-06618BC53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528" y="3059057"/>
            <a:ext cx="213071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 defTabSz="91440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fr-FR" sz="800" b="1" dirty="0"/>
              <a:t>Stage PFE : Développement d’une application </a:t>
            </a:r>
          </a:p>
          <a:p>
            <a:pPr algn="ctr" defTabSz="91440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fr-FR" sz="800" b="1" dirty="0"/>
              <a:t>web e-commerce</a:t>
            </a:r>
          </a:p>
          <a:p>
            <a:pPr algn="ctr" defTabSz="91440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fr-FR" sz="800" b="1" dirty="0"/>
              <a:t>(01/2022-06/2022)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608F2962-3EEA-A19C-BC85-7EFCC89C2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5649" y="1666122"/>
            <a:ext cx="18165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 defTabSz="91440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fr-FR" sz="800" b="1" dirty="0"/>
              <a:t>Master en Informatique Décisionnelle </a:t>
            </a:r>
          </a:p>
          <a:p>
            <a:pPr algn="ctr" defTabSz="91440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fr-FR" sz="800" b="1" dirty="0"/>
              <a:t>et Vision Intelligente (MIDVI)</a:t>
            </a:r>
          </a:p>
          <a:p>
            <a:pPr algn="ctr" defTabSz="91440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fr-FR" altLang="fr-FR" sz="800" b="1" dirty="0">
                <a:solidFill>
                  <a:schemeClr val="tx1"/>
                </a:solidFill>
              </a:rPr>
              <a:t>(09/2022-07/2024)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8A76B311-7576-66AC-01A1-432CB3B10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0251" y="3068897"/>
            <a:ext cx="19848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 defTabSz="91440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fr-FR" sz="800" b="1" dirty="0"/>
              <a:t>Stage PFE : Classification et interprétation </a:t>
            </a:r>
          </a:p>
          <a:p>
            <a:pPr algn="ctr" defTabSz="91440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fr-FR" sz="800" b="1" dirty="0"/>
              <a:t>d’images médicales</a:t>
            </a:r>
          </a:p>
          <a:p>
            <a:pPr algn="ctr" defTabSz="91440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fr-FR" sz="800" b="1" dirty="0"/>
              <a:t>(03/2024-07/2024)</a:t>
            </a: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366939C8-029B-7D2A-BEB0-41C223F2C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2761" y="1666122"/>
            <a:ext cx="15937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 defTabSz="91440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fr-FR" altLang="fr-F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Master 2 Informatique, parcours </a:t>
            </a:r>
          </a:p>
          <a:p>
            <a:pPr algn="ctr" defTabSz="91440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fr-FR" altLang="fr-F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Intelligence Artificielle</a:t>
            </a: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ctr" defTabSz="91440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fr-FR" altLang="fr-FR" sz="800" b="1" dirty="0">
                <a:solidFill>
                  <a:schemeClr val="tx1"/>
                </a:solidFill>
              </a:rPr>
              <a:t>(09/2024-08/2025)</a:t>
            </a: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C935FA1B-EE1E-987F-842A-A223CD431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6584" y="3081481"/>
            <a:ext cx="2331086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fr-FR" sz="800" b="1" dirty="0"/>
              <a:t>Stage PFE : Extraction des motifs d’artificialisation </a:t>
            </a:r>
          </a:p>
          <a:p>
            <a:pPr algn="ctr"/>
            <a:r>
              <a:rPr lang="fr-FR" sz="800" b="1" dirty="0"/>
              <a:t>à partir d’images satellitaires et interprétation </a:t>
            </a:r>
          </a:p>
          <a:p>
            <a:pPr algn="ctr"/>
            <a:r>
              <a:rPr lang="fr-FR" sz="800" b="1" dirty="0"/>
              <a:t>par des </a:t>
            </a:r>
            <a:r>
              <a:rPr lang="fr-FR" sz="800" b="1" dirty="0" err="1"/>
              <a:t>LLMs</a:t>
            </a:r>
            <a:endParaRPr lang="fr-FR" sz="800" b="1" dirty="0"/>
          </a:p>
          <a:p>
            <a:pPr algn="ctr"/>
            <a:r>
              <a:rPr lang="fr-FR" sz="800" b="1" dirty="0"/>
              <a:t>(03/2025-08/2025)</a:t>
            </a:r>
          </a:p>
        </p:txBody>
      </p:sp>
    </p:spTree>
    <p:extLst>
      <p:ext uri="{BB962C8B-B14F-4D97-AF65-F5344CB8AC3E}">
        <p14:creationId xmlns:p14="http://schemas.microsoft.com/office/powerpoint/2010/main" val="348406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9" grpId="0"/>
      <p:bldP spid="31" grpId="0"/>
      <p:bldP spid="32" grpId="0"/>
      <p:bldP spid="33" grpId="0"/>
      <p:bldP spid="35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/>
              <a:t>Techniques d'optimisation des </a:t>
            </a:r>
            <a:r>
              <a:rPr lang="fr-FR" sz="2800" b="1" dirty="0" err="1"/>
              <a:t>LLMs</a:t>
            </a:r>
            <a:endParaRPr lang="fr-FR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7477D4-B61E-645C-18CB-D90826F4F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16461"/>
            <a:ext cx="7886700" cy="370116"/>
          </a:xfrm>
        </p:spPr>
        <p:txBody>
          <a:bodyPr>
            <a:normAutofit/>
          </a:bodyPr>
          <a:lstStyle/>
          <a:p>
            <a:r>
              <a:rPr lang="fr-FR" sz="1000" dirty="0"/>
              <a:t>Neuro-</a:t>
            </a:r>
            <a:r>
              <a:rPr lang="fr-FR" sz="1000" dirty="0" err="1"/>
              <a:t>Symbolic</a:t>
            </a:r>
            <a:r>
              <a:rPr lang="fr-FR" sz="1000" dirty="0"/>
              <a:t> LLM-SKOS</a:t>
            </a:r>
            <a:endParaRPr lang="fr-FR" sz="800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  <a:endParaRPr lang="fr-FR" b="1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B5724523-46CE-FD5A-5FCE-320CC0B75F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153" y="2148800"/>
            <a:ext cx="1003286" cy="963383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6D4409A9-74BB-C027-D4B8-D632437AD1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100" y="2173476"/>
            <a:ext cx="1027787" cy="957711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079CC16E-7732-7EEA-7175-187E0382D11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701" y="2119950"/>
            <a:ext cx="989534" cy="1006793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E68FF384-F173-0737-9F75-FC618901611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675" y="2199230"/>
            <a:ext cx="994661" cy="895196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DAD6059E-6FA2-92F3-266E-6F4656B361E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62" y="2233476"/>
            <a:ext cx="989535" cy="852259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3CE8D8AD-B999-FF96-A797-ECEBB67293C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197" y="3872067"/>
            <a:ext cx="1594885" cy="251645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BA885FAF-73B1-37B2-903D-5098860E553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245" y="2449296"/>
            <a:ext cx="1503316" cy="420617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A2B5D582-EEFD-A1D8-B499-A7A7A8D9E05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02" y="1423122"/>
            <a:ext cx="1411040" cy="452453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2E34E430-A897-6B08-78D0-A71861ABAAB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302" y="3195460"/>
            <a:ext cx="1077201" cy="905307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3BF0CCFE-ADB2-2363-5FB0-2EF9C713705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542" y="2138837"/>
            <a:ext cx="1024252" cy="1006793"/>
          </a:xfrm>
          <a:prstGeom prst="rect">
            <a:avLst/>
          </a:prstGeom>
        </p:spPr>
      </p:pic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894A02F2-A807-B8CF-4957-E4CBB6B91912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835830" y="1860965"/>
            <a:ext cx="0" cy="372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3280C3E2-A2E5-09AA-D10C-0BDFF519AED2}"/>
              </a:ext>
            </a:extLst>
          </p:cNvPr>
          <p:cNvCxnSpPr>
            <a:cxnSpLocks/>
          </p:cNvCxnSpPr>
          <p:nvPr/>
        </p:nvCxnSpPr>
        <p:spPr>
          <a:xfrm>
            <a:off x="8204297" y="2832397"/>
            <a:ext cx="0" cy="372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0F6F29A2-2D94-CE7F-C456-6BE93D82B5CD}"/>
              </a:ext>
            </a:extLst>
          </p:cNvPr>
          <p:cNvCxnSpPr>
            <a:stCxn id="28" idx="3"/>
            <a:endCxn id="24" idx="1"/>
          </p:cNvCxnSpPr>
          <p:nvPr/>
        </p:nvCxnSpPr>
        <p:spPr>
          <a:xfrm flipV="1">
            <a:off x="1330597" y="2623347"/>
            <a:ext cx="217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7ADA8DC1-6F80-F0EE-DF7A-D1F1BA51E1EA}"/>
              </a:ext>
            </a:extLst>
          </p:cNvPr>
          <p:cNvCxnSpPr/>
          <p:nvPr/>
        </p:nvCxnSpPr>
        <p:spPr>
          <a:xfrm flipV="1">
            <a:off x="2526571" y="2650415"/>
            <a:ext cx="217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B8608A03-E364-1C74-1DE8-6EAB1910E665}"/>
              </a:ext>
            </a:extLst>
          </p:cNvPr>
          <p:cNvCxnSpPr/>
          <p:nvPr/>
        </p:nvCxnSpPr>
        <p:spPr>
          <a:xfrm flipV="1">
            <a:off x="3738336" y="2646828"/>
            <a:ext cx="217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4350C52C-7BE8-1B8C-15AC-E12F42718EC2}"/>
              </a:ext>
            </a:extLst>
          </p:cNvPr>
          <p:cNvCxnSpPr/>
          <p:nvPr/>
        </p:nvCxnSpPr>
        <p:spPr>
          <a:xfrm flipV="1">
            <a:off x="4936223" y="2637638"/>
            <a:ext cx="217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3CFE32D1-631C-B51C-DFE6-89FA0D7610A0}"/>
              </a:ext>
            </a:extLst>
          </p:cNvPr>
          <p:cNvCxnSpPr/>
          <p:nvPr/>
        </p:nvCxnSpPr>
        <p:spPr>
          <a:xfrm flipV="1">
            <a:off x="6150009" y="2637638"/>
            <a:ext cx="217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5CDFF99D-8BF1-6947-2DDD-A7347E7D32C2}"/>
              </a:ext>
            </a:extLst>
          </p:cNvPr>
          <p:cNvCxnSpPr/>
          <p:nvPr/>
        </p:nvCxnSpPr>
        <p:spPr>
          <a:xfrm flipV="1">
            <a:off x="7336831" y="2642233"/>
            <a:ext cx="217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necteur : en angle 64">
            <a:extLst>
              <a:ext uri="{FF2B5EF4-FFF2-40B4-BE49-F238E27FC236}">
                <a16:creationId xmlns:a16="http://schemas.microsoft.com/office/drawing/2014/main" id="{1AA75067-181B-2375-451F-A20A2ED310D7}"/>
              </a:ext>
            </a:extLst>
          </p:cNvPr>
          <p:cNvCxnSpPr>
            <a:cxnSpLocks/>
            <a:stCxn id="30" idx="1"/>
            <a:endCxn id="28" idx="2"/>
          </p:cNvCxnSpPr>
          <p:nvPr/>
        </p:nvCxnSpPr>
        <p:spPr>
          <a:xfrm rot="10800000">
            <a:off x="835831" y="3085736"/>
            <a:ext cx="1898367" cy="912155"/>
          </a:xfrm>
          <a:prstGeom prst="bentConnector2">
            <a:avLst/>
          </a:prstGeom>
          <a:ln>
            <a:solidFill>
              <a:schemeClr val="accent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 : en angle 70">
            <a:extLst>
              <a:ext uri="{FF2B5EF4-FFF2-40B4-BE49-F238E27FC236}">
                <a16:creationId xmlns:a16="http://schemas.microsoft.com/office/drawing/2014/main" id="{D57A93A4-84E4-C55A-1548-67F48E2AA9A4}"/>
              </a:ext>
            </a:extLst>
          </p:cNvPr>
          <p:cNvCxnSpPr>
            <a:stCxn id="40" idx="2"/>
            <a:endCxn id="30" idx="3"/>
          </p:cNvCxnSpPr>
          <p:nvPr/>
        </p:nvCxnSpPr>
        <p:spPr>
          <a:xfrm rot="5400000">
            <a:off x="4564245" y="2910467"/>
            <a:ext cx="852260" cy="1322586"/>
          </a:xfrm>
          <a:prstGeom prst="bentConnector2">
            <a:avLst/>
          </a:prstGeom>
          <a:ln w="19050" cap="flat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54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577ED4-8B70-FE0D-CD4B-0888C9EA4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/>
              <a:t>Techniques d'optimisation des </a:t>
            </a:r>
            <a:r>
              <a:rPr lang="fr-FR" sz="2800" b="1" dirty="0" err="1"/>
              <a:t>LLMs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DD579C-0353-2891-C825-BB439B7AF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39279"/>
            <a:ext cx="2710451" cy="281658"/>
          </a:xfrm>
        </p:spPr>
        <p:txBody>
          <a:bodyPr>
            <a:normAutofit/>
          </a:bodyPr>
          <a:lstStyle/>
          <a:p>
            <a:r>
              <a:rPr lang="fr-FR" sz="1000" dirty="0" err="1"/>
              <a:t>Retrieval-Augmented</a:t>
            </a:r>
            <a:r>
              <a:rPr lang="fr-FR" sz="1000" dirty="0"/>
              <a:t> </a:t>
            </a:r>
            <a:r>
              <a:rPr lang="fr-FR" sz="1000" dirty="0" err="1"/>
              <a:t>Generation</a:t>
            </a:r>
            <a:r>
              <a:rPr lang="fr-FR" sz="1000" dirty="0"/>
              <a:t> (RAG)</a:t>
            </a:r>
          </a:p>
          <a:p>
            <a:pPr marL="0" indent="0">
              <a:buNone/>
            </a:pPr>
            <a:endParaRPr lang="fr-FR" sz="1000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41180F01-216D-82B3-3B6E-39DEDFA035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4FC1C56-1859-0D0A-9A21-92CAC294FB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48EC9C71-D135-1DB7-C937-DF75917DAD8E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  <a:endParaRPr lang="fr-FR" b="1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3F0C8E0A-28D5-ADE5-CACE-D6E31AFB32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028" y="1880785"/>
            <a:ext cx="3333672" cy="352082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F1430A3C-D968-25E7-1E27-CEA5CAD60A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102" y="1120937"/>
            <a:ext cx="3399183" cy="523702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A564AFD9-F6B6-0B36-B136-3656D0869CC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056" y="2504030"/>
            <a:ext cx="3250336" cy="572035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BF198795-DF13-D80B-BD5E-2937A9E4D86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051" y="3337736"/>
            <a:ext cx="1913283" cy="298031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133FBF6E-DF45-C9A3-6684-B74375284C2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376" y="3760673"/>
            <a:ext cx="1490631" cy="212043"/>
          </a:xfrm>
          <a:prstGeom prst="rect">
            <a:avLst/>
          </a:prstGeom>
        </p:spPr>
      </p:pic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96C7DEF8-BA09-E7F0-D4B2-084C6DB3090F}"/>
              </a:ext>
            </a:extLst>
          </p:cNvPr>
          <p:cNvSpPr/>
          <p:nvPr/>
        </p:nvSpPr>
        <p:spPr>
          <a:xfrm>
            <a:off x="2540000" y="1120937"/>
            <a:ext cx="3485723" cy="523702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E07B1584-4153-2C7D-BCA7-63CF9EC4DEE1}"/>
              </a:ext>
            </a:extLst>
          </p:cNvPr>
          <p:cNvSpPr/>
          <p:nvPr/>
        </p:nvSpPr>
        <p:spPr>
          <a:xfrm>
            <a:off x="2540000" y="1834357"/>
            <a:ext cx="3485719" cy="443251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83C29CC0-6034-6212-781B-BF5E720714DD}"/>
              </a:ext>
            </a:extLst>
          </p:cNvPr>
          <p:cNvSpPr/>
          <p:nvPr/>
        </p:nvSpPr>
        <p:spPr>
          <a:xfrm>
            <a:off x="2540001" y="2511486"/>
            <a:ext cx="3485718" cy="572035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85886ABC-7B7C-9E15-24DC-6CF0787B453A}"/>
              </a:ext>
            </a:extLst>
          </p:cNvPr>
          <p:cNvSpPr/>
          <p:nvPr/>
        </p:nvSpPr>
        <p:spPr>
          <a:xfrm>
            <a:off x="2540000" y="4121150"/>
            <a:ext cx="3485718" cy="524190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ACF188D0-A7C7-CA69-2104-3CDFD0230A33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 flipH="1">
            <a:off x="4282860" y="1644639"/>
            <a:ext cx="2" cy="189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37F17413-01C7-8628-17AF-E9877CB4C6B8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>
            <a:off x="4282860" y="2277608"/>
            <a:ext cx="0" cy="233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524F5C7A-9FAF-020E-7420-3278DB91FE44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4282860" y="3083521"/>
            <a:ext cx="0" cy="254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8990F58A-C01F-23E6-8948-3A79DEF77242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4275600" y="3635767"/>
            <a:ext cx="1093" cy="124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E14CDB0B-A6EA-9798-6D02-CFE881D502B1}"/>
              </a:ext>
            </a:extLst>
          </p:cNvPr>
          <p:cNvCxnSpPr>
            <a:cxnSpLocks/>
            <a:stCxn id="38" idx="2"/>
            <a:endCxn id="43" idx="0"/>
          </p:cNvCxnSpPr>
          <p:nvPr/>
        </p:nvCxnSpPr>
        <p:spPr>
          <a:xfrm>
            <a:off x="4276692" y="3972716"/>
            <a:ext cx="0" cy="148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Espace réservé du contenu 2">
            <a:extLst>
              <a:ext uri="{FF2B5EF4-FFF2-40B4-BE49-F238E27FC236}">
                <a16:creationId xmlns:a16="http://schemas.microsoft.com/office/drawing/2014/main" id="{6EA5BD89-9ECB-F79B-4B82-63C30C62563E}"/>
              </a:ext>
            </a:extLst>
          </p:cNvPr>
          <p:cNvSpPr txBox="1">
            <a:spLocks/>
          </p:cNvSpPr>
          <p:nvPr/>
        </p:nvSpPr>
        <p:spPr>
          <a:xfrm>
            <a:off x="4272456" y="2268483"/>
            <a:ext cx="1008416" cy="1891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9"/>
              </a:buBlip>
              <a:tabLst/>
              <a:defRPr sz="2400" b="1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1pPr>
            <a:lvl2pPr marL="53340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0"/>
              </a:buBlip>
              <a:tabLst/>
              <a:defRPr sz="20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2pPr>
            <a:lvl3pPr marL="717550" marR="0" indent="-2667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1"/>
              </a:buBlip>
              <a:tabLst/>
              <a:defRPr sz="18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3pPr>
            <a:lvl4pPr marL="987425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2"/>
              </a:buBlip>
              <a:tabLst/>
              <a:defRPr sz="1600" i="1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4pPr>
            <a:lvl5pPr marL="1246188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3"/>
              </a:buBlip>
              <a:tabLst/>
              <a:defRPr sz="16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800" dirty="0" err="1"/>
              <a:t>Contexte</a:t>
            </a:r>
            <a:r>
              <a:rPr lang="en-US" sz="800" dirty="0"/>
              <a:t> </a:t>
            </a:r>
            <a:r>
              <a:rPr lang="en-US" sz="800" dirty="0" err="1"/>
              <a:t>récupère</a:t>
            </a:r>
            <a:r>
              <a:rPr lang="en-US" sz="800" dirty="0"/>
              <a:t> </a:t>
            </a:r>
            <a:endParaRPr lang="fr-FR" sz="800" dirty="0"/>
          </a:p>
        </p:txBody>
      </p:sp>
      <p:sp>
        <p:nvSpPr>
          <p:cNvPr id="99" name="Espace réservé du contenu 2">
            <a:extLst>
              <a:ext uri="{FF2B5EF4-FFF2-40B4-BE49-F238E27FC236}">
                <a16:creationId xmlns:a16="http://schemas.microsoft.com/office/drawing/2014/main" id="{F5D8140E-44F8-67A8-4C28-A54FC06C637F}"/>
              </a:ext>
            </a:extLst>
          </p:cNvPr>
          <p:cNvSpPr txBox="1">
            <a:spLocks/>
          </p:cNvSpPr>
          <p:nvPr/>
        </p:nvSpPr>
        <p:spPr>
          <a:xfrm>
            <a:off x="4286214" y="3094733"/>
            <a:ext cx="1008416" cy="1891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9"/>
              </a:buBlip>
              <a:tabLst/>
              <a:defRPr sz="2400" b="1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1pPr>
            <a:lvl2pPr marL="53340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0"/>
              </a:buBlip>
              <a:tabLst/>
              <a:defRPr sz="20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2pPr>
            <a:lvl3pPr marL="717550" marR="0" indent="-2667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1"/>
              </a:buBlip>
              <a:tabLst/>
              <a:defRPr sz="18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3pPr>
            <a:lvl4pPr marL="987425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2"/>
              </a:buBlip>
              <a:tabLst/>
              <a:defRPr sz="1600" i="1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4pPr>
            <a:lvl5pPr marL="1246188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3"/>
              </a:buBlip>
              <a:tabLst/>
              <a:defRPr sz="16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800" dirty="0"/>
              <a:t>Prompt </a:t>
            </a:r>
            <a:r>
              <a:rPr lang="en-US" sz="800" dirty="0" err="1"/>
              <a:t>enrichi</a:t>
            </a:r>
            <a:endParaRPr lang="fr-FR" sz="800" dirty="0"/>
          </a:p>
        </p:txBody>
      </p:sp>
      <p:cxnSp>
        <p:nvCxnSpPr>
          <p:cNvPr id="101" name="Connecteur : en angle 100">
            <a:extLst>
              <a:ext uri="{FF2B5EF4-FFF2-40B4-BE49-F238E27FC236}">
                <a16:creationId xmlns:a16="http://schemas.microsoft.com/office/drawing/2014/main" id="{F85EE18E-30B6-0C11-0A9D-ACDD437734AF}"/>
              </a:ext>
            </a:extLst>
          </p:cNvPr>
          <p:cNvCxnSpPr>
            <a:cxnSpLocks/>
            <a:endCxn id="22" idx="3"/>
          </p:cNvCxnSpPr>
          <p:nvPr/>
        </p:nvCxnSpPr>
        <p:spPr>
          <a:xfrm flipV="1">
            <a:off x="5903728" y="2056826"/>
            <a:ext cx="42972" cy="2316303"/>
          </a:xfrm>
          <a:prstGeom prst="bentConnector3">
            <a:avLst>
              <a:gd name="adj1" fmla="val 1193503"/>
            </a:avLst>
          </a:prstGeom>
          <a:ln w="19050" cap="flat" cmpd="sng" algn="ctr">
            <a:solidFill>
              <a:srgbClr val="FF0000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9" name="Connecteur : en angle 108">
            <a:extLst>
              <a:ext uri="{FF2B5EF4-FFF2-40B4-BE49-F238E27FC236}">
                <a16:creationId xmlns:a16="http://schemas.microsoft.com/office/drawing/2014/main" id="{345E5A12-4277-5D60-AE02-DB55DA34F881}"/>
              </a:ext>
            </a:extLst>
          </p:cNvPr>
          <p:cNvCxnSpPr>
            <a:cxnSpLocks/>
            <a:endCxn id="26" idx="1"/>
          </p:cNvCxnSpPr>
          <p:nvPr/>
        </p:nvCxnSpPr>
        <p:spPr>
          <a:xfrm rot="10800000" flipH="1">
            <a:off x="2641184" y="2790049"/>
            <a:ext cx="14871" cy="1583081"/>
          </a:xfrm>
          <a:prstGeom prst="bentConnector3">
            <a:avLst>
              <a:gd name="adj1" fmla="val -2732836"/>
            </a:avLst>
          </a:prstGeom>
          <a:ln>
            <a:solidFill>
              <a:srgbClr val="FF0000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Espace réservé du contenu 2">
            <a:extLst>
              <a:ext uri="{FF2B5EF4-FFF2-40B4-BE49-F238E27FC236}">
                <a16:creationId xmlns:a16="http://schemas.microsoft.com/office/drawing/2014/main" id="{B372DA3C-8C6D-1430-DFA6-798391041C69}"/>
              </a:ext>
            </a:extLst>
          </p:cNvPr>
          <p:cNvSpPr txBox="1">
            <a:spLocks/>
          </p:cNvSpPr>
          <p:nvPr/>
        </p:nvSpPr>
        <p:spPr>
          <a:xfrm>
            <a:off x="1186185" y="3312460"/>
            <a:ext cx="2200993" cy="1891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9"/>
              </a:buBlip>
              <a:tabLst/>
              <a:defRPr sz="2400" b="1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1pPr>
            <a:lvl2pPr marL="53340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0"/>
              </a:buBlip>
              <a:tabLst/>
              <a:defRPr sz="20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2pPr>
            <a:lvl3pPr marL="717550" marR="0" indent="-2667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1"/>
              </a:buBlip>
              <a:tabLst/>
              <a:defRPr sz="18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3pPr>
            <a:lvl4pPr marL="987425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2"/>
              </a:buBlip>
              <a:tabLst/>
              <a:defRPr sz="1600" i="1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4pPr>
            <a:lvl5pPr marL="1246188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3"/>
              </a:buBlip>
              <a:tabLst/>
              <a:defRPr sz="16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800" dirty="0">
                <a:solidFill>
                  <a:srgbClr val="FF0000"/>
                </a:solidFill>
              </a:rPr>
              <a:t>X </a:t>
            </a:r>
            <a:r>
              <a:rPr lang="en-US" sz="800" dirty="0" err="1">
                <a:solidFill>
                  <a:srgbClr val="FF0000"/>
                </a:solidFill>
              </a:rPr>
              <a:t>insatisfait</a:t>
            </a:r>
            <a:r>
              <a:rPr lang="en-US" sz="800" dirty="0">
                <a:solidFill>
                  <a:srgbClr val="FF0000"/>
                </a:solidFill>
              </a:rPr>
              <a:t> --&gt; retour    aux prompts de test</a:t>
            </a:r>
            <a:endParaRPr lang="fr-FR" sz="800" dirty="0">
              <a:solidFill>
                <a:srgbClr val="FF0000"/>
              </a:solidFill>
            </a:endParaRPr>
          </a:p>
        </p:txBody>
      </p:sp>
      <p:sp>
        <p:nvSpPr>
          <p:cNvPr id="114" name="Espace réservé du contenu 2">
            <a:extLst>
              <a:ext uri="{FF2B5EF4-FFF2-40B4-BE49-F238E27FC236}">
                <a16:creationId xmlns:a16="http://schemas.microsoft.com/office/drawing/2014/main" id="{E082C70D-335D-1475-3988-2ED39D38CA8B}"/>
              </a:ext>
            </a:extLst>
          </p:cNvPr>
          <p:cNvSpPr txBox="1">
            <a:spLocks/>
          </p:cNvSpPr>
          <p:nvPr/>
        </p:nvSpPr>
        <p:spPr>
          <a:xfrm rot="5400000">
            <a:off x="5966960" y="3410866"/>
            <a:ext cx="1145117" cy="1891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9"/>
              </a:buBlip>
              <a:tabLst/>
              <a:defRPr sz="2400" b="1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1pPr>
            <a:lvl2pPr marL="53340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0"/>
              </a:buBlip>
              <a:tabLst/>
              <a:defRPr sz="20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2pPr>
            <a:lvl3pPr marL="717550" marR="0" indent="-2667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1"/>
              </a:buBlip>
              <a:tabLst/>
              <a:defRPr sz="18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3pPr>
            <a:lvl4pPr marL="987425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2"/>
              </a:buBlip>
              <a:tabLst/>
              <a:defRPr sz="1600" i="1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4pPr>
            <a:lvl5pPr marL="1246188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3"/>
              </a:buBlip>
              <a:tabLst/>
              <a:defRPr sz="16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fr-FR" sz="800" dirty="0">
                <a:solidFill>
                  <a:srgbClr val="FF0000"/>
                </a:solidFill>
              </a:rPr>
              <a:t>Affiner le </a:t>
            </a:r>
            <a:r>
              <a:rPr lang="fr-FR" sz="800" dirty="0" err="1">
                <a:solidFill>
                  <a:srgbClr val="FF0000"/>
                </a:solidFill>
              </a:rPr>
              <a:t>retrieval</a:t>
            </a:r>
            <a:endParaRPr lang="fr-FR" sz="800" dirty="0">
              <a:solidFill>
                <a:srgbClr val="FF0000"/>
              </a:solidFill>
            </a:endParaRPr>
          </a:p>
        </p:txBody>
      </p:sp>
      <p:sp>
        <p:nvSpPr>
          <p:cNvPr id="117" name="Rectangle : coins arrondis 116">
            <a:extLst>
              <a:ext uri="{FF2B5EF4-FFF2-40B4-BE49-F238E27FC236}">
                <a16:creationId xmlns:a16="http://schemas.microsoft.com/office/drawing/2014/main" id="{51B77EDB-5CA4-EB3F-1402-3A038810AD26}"/>
              </a:ext>
            </a:extLst>
          </p:cNvPr>
          <p:cNvSpPr/>
          <p:nvPr/>
        </p:nvSpPr>
        <p:spPr>
          <a:xfrm>
            <a:off x="6363405" y="1235382"/>
            <a:ext cx="1078795" cy="28565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Sources de données </a:t>
            </a:r>
            <a:endParaRPr lang="fr-FR" sz="800" b="1" dirty="0"/>
          </a:p>
        </p:txBody>
      </p:sp>
      <p:sp>
        <p:nvSpPr>
          <p:cNvPr id="118" name="Rectangle : coins arrondis 117">
            <a:extLst>
              <a:ext uri="{FF2B5EF4-FFF2-40B4-BE49-F238E27FC236}">
                <a16:creationId xmlns:a16="http://schemas.microsoft.com/office/drawing/2014/main" id="{E735D9E7-EE2B-4913-D43F-0518673506B2}"/>
              </a:ext>
            </a:extLst>
          </p:cNvPr>
          <p:cNvSpPr/>
          <p:nvPr/>
        </p:nvSpPr>
        <p:spPr>
          <a:xfrm>
            <a:off x="1335339" y="1898499"/>
            <a:ext cx="852237" cy="28565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Pipeline RAG</a:t>
            </a:r>
            <a:endParaRPr lang="fr-FR" sz="800" b="1" dirty="0"/>
          </a:p>
        </p:txBody>
      </p:sp>
      <p:sp>
        <p:nvSpPr>
          <p:cNvPr id="119" name="Rectangle : coins arrondis 118">
            <a:extLst>
              <a:ext uri="{FF2B5EF4-FFF2-40B4-BE49-F238E27FC236}">
                <a16:creationId xmlns:a16="http://schemas.microsoft.com/office/drawing/2014/main" id="{B29282C9-4ABB-3429-7348-5421F16695F5}"/>
              </a:ext>
            </a:extLst>
          </p:cNvPr>
          <p:cNvSpPr/>
          <p:nvPr/>
        </p:nvSpPr>
        <p:spPr>
          <a:xfrm>
            <a:off x="6788113" y="2647217"/>
            <a:ext cx="1078795" cy="28565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Prompt builder</a:t>
            </a:r>
            <a:endParaRPr lang="fr-FR" sz="800" b="1" dirty="0"/>
          </a:p>
        </p:txBody>
      </p:sp>
      <p:sp>
        <p:nvSpPr>
          <p:cNvPr id="120" name="Rectangle : coins arrondis 119">
            <a:extLst>
              <a:ext uri="{FF2B5EF4-FFF2-40B4-BE49-F238E27FC236}">
                <a16:creationId xmlns:a16="http://schemas.microsoft.com/office/drawing/2014/main" id="{EEFF22E4-384A-5DD3-E99D-4F738CFF0C26}"/>
              </a:ext>
            </a:extLst>
          </p:cNvPr>
          <p:cNvSpPr/>
          <p:nvPr/>
        </p:nvSpPr>
        <p:spPr>
          <a:xfrm>
            <a:off x="248921" y="4260779"/>
            <a:ext cx="1576240" cy="28565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 err="1"/>
              <a:t>Évaluation</a:t>
            </a:r>
            <a:r>
              <a:rPr lang="en-US" sz="800" b="1" dirty="0"/>
              <a:t> – feedback </a:t>
            </a:r>
            <a:r>
              <a:rPr lang="en-US" sz="800" b="1" dirty="0" err="1"/>
              <a:t>humain</a:t>
            </a:r>
            <a:endParaRPr lang="fr-FR" sz="800" b="1" dirty="0"/>
          </a:p>
        </p:txBody>
      </p:sp>
      <p:cxnSp>
        <p:nvCxnSpPr>
          <p:cNvPr id="122" name="Connecteur droit avec flèche 121">
            <a:extLst>
              <a:ext uri="{FF2B5EF4-FFF2-40B4-BE49-F238E27FC236}">
                <a16:creationId xmlns:a16="http://schemas.microsoft.com/office/drawing/2014/main" id="{DAFC4C74-6E2B-9AB5-6DDC-6B0B2A679ECE}"/>
              </a:ext>
            </a:extLst>
          </p:cNvPr>
          <p:cNvCxnSpPr>
            <a:cxnSpLocks/>
            <a:stCxn id="40" idx="3"/>
            <a:endCxn id="117" idx="1"/>
          </p:cNvCxnSpPr>
          <p:nvPr/>
        </p:nvCxnSpPr>
        <p:spPr>
          <a:xfrm flipV="1">
            <a:off x="6025723" y="1378212"/>
            <a:ext cx="33768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Connecteur droit avec flèche 124">
            <a:extLst>
              <a:ext uri="{FF2B5EF4-FFF2-40B4-BE49-F238E27FC236}">
                <a16:creationId xmlns:a16="http://schemas.microsoft.com/office/drawing/2014/main" id="{B957658C-09A3-95C1-2DD3-B2F36FBD6270}"/>
              </a:ext>
            </a:extLst>
          </p:cNvPr>
          <p:cNvCxnSpPr>
            <a:cxnSpLocks/>
          </p:cNvCxnSpPr>
          <p:nvPr/>
        </p:nvCxnSpPr>
        <p:spPr>
          <a:xfrm flipV="1">
            <a:off x="2202318" y="2041329"/>
            <a:ext cx="33768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6" name="Connecteur droit avec flèche 125">
            <a:extLst>
              <a:ext uri="{FF2B5EF4-FFF2-40B4-BE49-F238E27FC236}">
                <a16:creationId xmlns:a16="http://schemas.microsoft.com/office/drawing/2014/main" id="{9459DCAB-56EA-F835-E171-DF17A1009125}"/>
              </a:ext>
            </a:extLst>
          </p:cNvPr>
          <p:cNvCxnSpPr>
            <a:cxnSpLocks/>
            <a:endCxn id="119" idx="1"/>
          </p:cNvCxnSpPr>
          <p:nvPr/>
        </p:nvCxnSpPr>
        <p:spPr>
          <a:xfrm>
            <a:off x="6025723" y="2790046"/>
            <a:ext cx="762390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" name="Connecteur droit avec flèche 127">
            <a:extLst>
              <a:ext uri="{FF2B5EF4-FFF2-40B4-BE49-F238E27FC236}">
                <a16:creationId xmlns:a16="http://schemas.microsoft.com/office/drawing/2014/main" id="{3E4D97B9-2880-C688-51B2-117C8D08E205}"/>
              </a:ext>
            </a:extLst>
          </p:cNvPr>
          <p:cNvCxnSpPr>
            <a:cxnSpLocks/>
          </p:cNvCxnSpPr>
          <p:nvPr/>
        </p:nvCxnSpPr>
        <p:spPr>
          <a:xfrm>
            <a:off x="1825161" y="4429009"/>
            <a:ext cx="71483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2" name="Ellipse 131">
            <a:extLst>
              <a:ext uri="{FF2B5EF4-FFF2-40B4-BE49-F238E27FC236}">
                <a16:creationId xmlns:a16="http://schemas.microsoft.com/office/drawing/2014/main" id="{6ABE3856-E9EC-2600-B72A-20C0F13984E2}"/>
              </a:ext>
            </a:extLst>
          </p:cNvPr>
          <p:cNvSpPr/>
          <p:nvPr/>
        </p:nvSpPr>
        <p:spPr>
          <a:xfrm>
            <a:off x="6765198" y="990426"/>
            <a:ext cx="254000" cy="22339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1</a:t>
            </a:r>
            <a:endParaRPr lang="fr-FR" sz="900" b="1" dirty="0"/>
          </a:p>
        </p:txBody>
      </p:sp>
      <p:sp>
        <p:nvSpPr>
          <p:cNvPr id="133" name="Ellipse 132">
            <a:extLst>
              <a:ext uri="{FF2B5EF4-FFF2-40B4-BE49-F238E27FC236}">
                <a16:creationId xmlns:a16="http://schemas.microsoft.com/office/drawing/2014/main" id="{886B58E4-263C-D4AD-2AD5-E792893828A4}"/>
              </a:ext>
            </a:extLst>
          </p:cNvPr>
          <p:cNvSpPr/>
          <p:nvPr/>
        </p:nvSpPr>
        <p:spPr>
          <a:xfrm>
            <a:off x="1626707" y="1656040"/>
            <a:ext cx="254000" cy="22339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2</a:t>
            </a:r>
            <a:endParaRPr lang="fr-FR" sz="900" b="1" dirty="0"/>
          </a:p>
        </p:txBody>
      </p:sp>
      <p:sp>
        <p:nvSpPr>
          <p:cNvPr id="134" name="Ellipse 133">
            <a:extLst>
              <a:ext uri="{FF2B5EF4-FFF2-40B4-BE49-F238E27FC236}">
                <a16:creationId xmlns:a16="http://schemas.microsoft.com/office/drawing/2014/main" id="{23DFC3D3-1E94-4340-E996-F3521C9FB66E}"/>
              </a:ext>
            </a:extLst>
          </p:cNvPr>
          <p:cNvSpPr/>
          <p:nvPr/>
        </p:nvSpPr>
        <p:spPr>
          <a:xfrm>
            <a:off x="7188200" y="2399791"/>
            <a:ext cx="254000" cy="22339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3</a:t>
            </a:r>
            <a:endParaRPr lang="fr-FR" sz="900" b="1" dirty="0"/>
          </a:p>
        </p:txBody>
      </p:sp>
      <p:sp>
        <p:nvSpPr>
          <p:cNvPr id="135" name="Ellipse 134">
            <a:extLst>
              <a:ext uri="{FF2B5EF4-FFF2-40B4-BE49-F238E27FC236}">
                <a16:creationId xmlns:a16="http://schemas.microsoft.com/office/drawing/2014/main" id="{A1DA34F9-A1B9-D560-079E-4E40463CE8CE}"/>
              </a:ext>
            </a:extLst>
          </p:cNvPr>
          <p:cNvSpPr/>
          <p:nvPr/>
        </p:nvSpPr>
        <p:spPr>
          <a:xfrm>
            <a:off x="896503" y="4022300"/>
            <a:ext cx="254000" cy="22339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4</a:t>
            </a:r>
            <a:endParaRPr lang="fr-FR" sz="900" b="1" dirty="0"/>
          </a:p>
        </p:txBody>
      </p:sp>
      <p:pic>
        <p:nvPicPr>
          <p:cNvPr id="136" name="Image 135">
            <a:extLst>
              <a:ext uri="{FF2B5EF4-FFF2-40B4-BE49-F238E27FC236}">
                <a16:creationId xmlns:a16="http://schemas.microsoft.com/office/drawing/2014/main" id="{5EE6A272-48D4-2553-63C2-5C744BB6723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833" y="4172450"/>
            <a:ext cx="3366762" cy="429620"/>
          </a:xfrm>
          <a:prstGeom prst="rect">
            <a:avLst/>
          </a:prstGeom>
        </p:spPr>
      </p:pic>
      <p:cxnSp>
        <p:nvCxnSpPr>
          <p:cNvPr id="137" name="Connecteur droit avec flèche 136">
            <a:extLst>
              <a:ext uri="{FF2B5EF4-FFF2-40B4-BE49-F238E27FC236}">
                <a16:creationId xmlns:a16="http://schemas.microsoft.com/office/drawing/2014/main" id="{C94E9267-61B2-0139-0A06-AA0C0AA17D6E}"/>
              </a:ext>
            </a:extLst>
          </p:cNvPr>
          <p:cNvCxnSpPr>
            <a:cxnSpLocks/>
          </p:cNvCxnSpPr>
          <p:nvPr/>
        </p:nvCxnSpPr>
        <p:spPr>
          <a:xfrm>
            <a:off x="3400963" y="4388436"/>
            <a:ext cx="774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Connecteur droit avec flèche 141">
            <a:extLst>
              <a:ext uri="{FF2B5EF4-FFF2-40B4-BE49-F238E27FC236}">
                <a16:creationId xmlns:a16="http://schemas.microsoft.com/office/drawing/2014/main" id="{97763B07-5CC0-9A7E-2274-611BB68294E6}"/>
              </a:ext>
            </a:extLst>
          </p:cNvPr>
          <p:cNvCxnSpPr>
            <a:cxnSpLocks/>
          </p:cNvCxnSpPr>
          <p:nvPr/>
        </p:nvCxnSpPr>
        <p:spPr>
          <a:xfrm>
            <a:off x="4369508" y="4387840"/>
            <a:ext cx="774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Connecteur droit avec flèche 142">
            <a:extLst>
              <a:ext uri="{FF2B5EF4-FFF2-40B4-BE49-F238E27FC236}">
                <a16:creationId xmlns:a16="http://schemas.microsoft.com/office/drawing/2014/main" id="{F7C2B506-460D-724B-E5B8-30E69AA184A1}"/>
              </a:ext>
            </a:extLst>
          </p:cNvPr>
          <p:cNvCxnSpPr>
            <a:cxnSpLocks/>
          </p:cNvCxnSpPr>
          <p:nvPr/>
        </p:nvCxnSpPr>
        <p:spPr>
          <a:xfrm>
            <a:off x="5146711" y="4387840"/>
            <a:ext cx="774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870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  <p:bldP spid="98" grpId="0"/>
      <p:bldP spid="99" grpId="0"/>
      <p:bldP spid="113" grpId="0"/>
      <p:bldP spid="114" grpId="0"/>
      <p:bldP spid="117" grpId="0" animBg="1"/>
      <p:bldP spid="118" grpId="0" animBg="1"/>
      <p:bldP spid="119" grpId="0" animBg="1"/>
      <p:bldP spid="120" grpId="0" animBg="1"/>
      <p:bldP spid="132" grpId="0" animBg="1"/>
      <p:bldP spid="133" grpId="0" animBg="1"/>
      <p:bldP spid="134" grpId="0" animBg="1"/>
      <p:bldP spid="1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4E8DAF-8925-1AD7-3957-9F0DE9C9B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/>
              <a:t>Techniques d'optimisation des </a:t>
            </a:r>
            <a:r>
              <a:rPr lang="fr-FR" sz="2800" b="1" dirty="0" err="1"/>
              <a:t>LLMs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E6FB9C-4186-367F-1985-FC98EF6F6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916462"/>
            <a:ext cx="1586128" cy="360942"/>
          </a:xfrm>
        </p:spPr>
        <p:txBody>
          <a:bodyPr>
            <a:normAutofit/>
          </a:bodyPr>
          <a:lstStyle/>
          <a:p>
            <a:r>
              <a:rPr lang="fr-FR" sz="1000" dirty="0"/>
              <a:t>Fine-tuning</a:t>
            </a:r>
          </a:p>
          <a:p>
            <a:endParaRPr lang="fr-FR" sz="1000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3B72F2C-1E2D-2E3F-4FC6-384F3D8C86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88C9975-6E5A-9FD1-ED80-5C5BDB1CA1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4634B473-7E07-2B45-F3AE-2CB3ADF4FD0C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7128B5D-EB09-96B2-B91F-789BC27384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725" y="941770"/>
            <a:ext cx="3388240" cy="882734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839EE01C-BF76-E75D-DE57-9F281E67FA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688" y="2120821"/>
            <a:ext cx="3488697" cy="411403"/>
          </a:xfrm>
          <a:prstGeom prst="rect">
            <a:avLst/>
          </a:prstGeom>
        </p:spPr>
      </p:pic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7263CC8-DFE8-D547-2176-DE3ABEEEBF82}"/>
              </a:ext>
            </a:extLst>
          </p:cNvPr>
          <p:cNvSpPr/>
          <p:nvPr/>
        </p:nvSpPr>
        <p:spPr>
          <a:xfrm>
            <a:off x="2779370" y="4136762"/>
            <a:ext cx="3485718" cy="524190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114ADE0C-F23C-94CE-51AF-7F6DDAE08D7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203" y="4188062"/>
            <a:ext cx="3366762" cy="429620"/>
          </a:xfrm>
          <a:prstGeom prst="rect">
            <a:avLst/>
          </a:prstGeom>
        </p:spPr>
      </p:pic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361D7392-28E8-39E5-3EFF-2B9E01800293}"/>
              </a:ext>
            </a:extLst>
          </p:cNvPr>
          <p:cNvCxnSpPr>
            <a:cxnSpLocks/>
          </p:cNvCxnSpPr>
          <p:nvPr/>
        </p:nvCxnSpPr>
        <p:spPr>
          <a:xfrm>
            <a:off x="3640333" y="4404048"/>
            <a:ext cx="774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1ADA85FB-968F-7A1F-C742-757ECDF71E41}"/>
              </a:ext>
            </a:extLst>
          </p:cNvPr>
          <p:cNvCxnSpPr>
            <a:cxnSpLocks/>
          </p:cNvCxnSpPr>
          <p:nvPr/>
        </p:nvCxnSpPr>
        <p:spPr>
          <a:xfrm>
            <a:off x="4608878" y="4403452"/>
            <a:ext cx="774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597490B0-2BBD-8795-4C8F-A8731A6F3ECA}"/>
              </a:ext>
            </a:extLst>
          </p:cNvPr>
          <p:cNvCxnSpPr>
            <a:cxnSpLocks/>
          </p:cNvCxnSpPr>
          <p:nvPr/>
        </p:nvCxnSpPr>
        <p:spPr>
          <a:xfrm>
            <a:off x="5386081" y="4403452"/>
            <a:ext cx="774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2B752BC4-EE8D-6009-96D6-AE3D03343EA9}"/>
              </a:ext>
            </a:extLst>
          </p:cNvPr>
          <p:cNvCxnSpPr>
            <a:cxnSpLocks/>
          </p:cNvCxnSpPr>
          <p:nvPr/>
        </p:nvCxnSpPr>
        <p:spPr>
          <a:xfrm>
            <a:off x="3811747" y="2329957"/>
            <a:ext cx="972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4D4532AB-A85B-6E6A-09F2-01F824E1B7C4}"/>
              </a:ext>
            </a:extLst>
          </p:cNvPr>
          <p:cNvCxnSpPr>
            <a:cxnSpLocks/>
          </p:cNvCxnSpPr>
          <p:nvPr/>
        </p:nvCxnSpPr>
        <p:spPr>
          <a:xfrm>
            <a:off x="4910712" y="2324415"/>
            <a:ext cx="972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Image 25">
            <a:extLst>
              <a:ext uri="{FF2B5EF4-FFF2-40B4-BE49-F238E27FC236}">
                <a16:creationId xmlns:a16="http://schemas.microsoft.com/office/drawing/2014/main" id="{A72D602E-E7B4-B1E3-5B34-A0492BABD7B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792" y="2740413"/>
            <a:ext cx="2112276" cy="297230"/>
          </a:xfrm>
          <a:prstGeom prst="rect">
            <a:avLst/>
          </a:prstGeom>
        </p:spPr>
      </p:pic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C7239CD8-1627-C6CB-F0D1-721015B7E4D0}"/>
              </a:ext>
            </a:extLst>
          </p:cNvPr>
          <p:cNvSpPr/>
          <p:nvPr/>
        </p:nvSpPr>
        <p:spPr>
          <a:xfrm>
            <a:off x="2773878" y="2091335"/>
            <a:ext cx="3485718" cy="472927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895DA279-D74B-CC68-221B-E719F6D7FCE9}"/>
              </a:ext>
            </a:extLst>
          </p:cNvPr>
          <p:cNvSpPr/>
          <p:nvPr/>
        </p:nvSpPr>
        <p:spPr>
          <a:xfrm>
            <a:off x="2763072" y="877638"/>
            <a:ext cx="3485718" cy="993501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8B300971-BB71-87E5-CDF7-D375F14339C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056" y="3231584"/>
            <a:ext cx="3412734" cy="380232"/>
          </a:xfrm>
          <a:prstGeom prst="rect">
            <a:avLst/>
          </a:prstGeom>
        </p:spPr>
      </p:pic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2DD641F7-6349-E847-C145-179BD0BDEF51}"/>
              </a:ext>
            </a:extLst>
          </p:cNvPr>
          <p:cNvSpPr/>
          <p:nvPr/>
        </p:nvSpPr>
        <p:spPr>
          <a:xfrm>
            <a:off x="2799564" y="3209603"/>
            <a:ext cx="3485718" cy="411403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631EE4F5-DD2B-892E-C5E2-FB7D6AA2AE03}"/>
              </a:ext>
            </a:extLst>
          </p:cNvPr>
          <p:cNvCxnSpPr>
            <a:cxnSpLocks/>
          </p:cNvCxnSpPr>
          <p:nvPr/>
        </p:nvCxnSpPr>
        <p:spPr>
          <a:xfrm>
            <a:off x="3869567" y="3419732"/>
            <a:ext cx="972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B48205B4-BC44-FE25-14E0-B343FAA75024}"/>
              </a:ext>
            </a:extLst>
          </p:cNvPr>
          <p:cNvCxnSpPr>
            <a:cxnSpLocks/>
          </p:cNvCxnSpPr>
          <p:nvPr/>
        </p:nvCxnSpPr>
        <p:spPr>
          <a:xfrm>
            <a:off x="5044732" y="3419732"/>
            <a:ext cx="972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E319A355-FD8F-4A1B-4011-622FBCB5941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615" y="3777752"/>
            <a:ext cx="1490631" cy="212043"/>
          </a:xfrm>
          <a:prstGeom prst="rect">
            <a:avLst/>
          </a:prstGeom>
        </p:spPr>
      </p:pic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23F84A51-1A45-EFF1-07E0-50B2F8FDF71A}"/>
              </a:ext>
            </a:extLst>
          </p:cNvPr>
          <p:cNvCxnSpPr>
            <a:cxnSpLocks/>
            <a:endCxn id="27" idx="0"/>
          </p:cNvCxnSpPr>
          <p:nvPr/>
        </p:nvCxnSpPr>
        <p:spPr>
          <a:xfrm flipH="1">
            <a:off x="4516737" y="1875967"/>
            <a:ext cx="0" cy="215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15B5C29F-44AB-E143-5978-22C00148E8E8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4505930" y="2564262"/>
            <a:ext cx="0" cy="17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2903D340-E9D2-1BFF-3722-4E2F87BA1724}"/>
              </a:ext>
            </a:extLst>
          </p:cNvPr>
          <p:cNvCxnSpPr>
            <a:cxnSpLocks/>
          </p:cNvCxnSpPr>
          <p:nvPr/>
        </p:nvCxnSpPr>
        <p:spPr>
          <a:xfrm flipH="1">
            <a:off x="4505930" y="3033452"/>
            <a:ext cx="0" cy="17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32901A41-A20D-549F-CEDC-48C0527E94FF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4505930" y="3621006"/>
            <a:ext cx="1" cy="156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DFCF5FF3-CF16-328E-3C2E-2690A6D2E503}"/>
              </a:ext>
            </a:extLst>
          </p:cNvPr>
          <p:cNvCxnSpPr>
            <a:cxnSpLocks/>
          </p:cNvCxnSpPr>
          <p:nvPr/>
        </p:nvCxnSpPr>
        <p:spPr>
          <a:xfrm>
            <a:off x="4514844" y="3982195"/>
            <a:ext cx="1" cy="156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B3EA2172-48A0-4851-1DEE-48EF4E1FB897}"/>
              </a:ext>
            </a:extLst>
          </p:cNvPr>
          <p:cNvSpPr/>
          <p:nvPr/>
        </p:nvSpPr>
        <p:spPr>
          <a:xfrm>
            <a:off x="6591757" y="1193838"/>
            <a:ext cx="1320790" cy="28565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800" b="1" dirty="0"/>
              <a:t>données d'entraînement</a:t>
            </a:r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E8B12F10-8A36-B0D7-71AA-5B606B83CF2B}"/>
              </a:ext>
            </a:extLst>
          </p:cNvPr>
          <p:cNvSpPr/>
          <p:nvPr/>
        </p:nvSpPr>
        <p:spPr>
          <a:xfrm>
            <a:off x="1574278" y="2181585"/>
            <a:ext cx="852237" cy="28565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Fine-tuning</a:t>
            </a:r>
            <a:endParaRPr lang="fr-FR" sz="800" b="1" dirty="0"/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75842193-2E39-B9F3-17DC-E86738B2A1DE}"/>
              </a:ext>
            </a:extLst>
          </p:cNvPr>
          <p:cNvSpPr/>
          <p:nvPr/>
        </p:nvSpPr>
        <p:spPr>
          <a:xfrm>
            <a:off x="7047672" y="3276902"/>
            <a:ext cx="1078795" cy="28565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Prompts de test</a:t>
            </a:r>
            <a:endParaRPr lang="fr-FR" sz="800" b="1" dirty="0"/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4DC4B828-75CF-D53B-F9C0-8460A2C4890A}"/>
              </a:ext>
            </a:extLst>
          </p:cNvPr>
          <p:cNvSpPr/>
          <p:nvPr/>
        </p:nvSpPr>
        <p:spPr>
          <a:xfrm>
            <a:off x="474286" y="4227038"/>
            <a:ext cx="1576240" cy="28565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 err="1"/>
              <a:t>Évaluation</a:t>
            </a:r>
            <a:r>
              <a:rPr lang="en-US" sz="800" b="1" dirty="0"/>
              <a:t> – feedback </a:t>
            </a:r>
            <a:r>
              <a:rPr lang="en-US" sz="800" b="1" dirty="0" err="1"/>
              <a:t>humain</a:t>
            </a:r>
            <a:endParaRPr lang="fr-FR" sz="800" b="1" dirty="0"/>
          </a:p>
        </p:txBody>
      </p: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172641F8-3473-0E63-FAFE-E576215AD8BD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6254075" y="1336668"/>
            <a:ext cx="33768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BB6A9DFE-9FB4-B100-5ADE-A6E56F35EB90}"/>
              </a:ext>
            </a:extLst>
          </p:cNvPr>
          <p:cNvCxnSpPr>
            <a:cxnSpLocks/>
          </p:cNvCxnSpPr>
          <p:nvPr/>
        </p:nvCxnSpPr>
        <p:spPr>
          <a:xfrm flipV="1">
            <a:off x="2441257" y="2324415"/>
            <a:ext cx="33768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AD1717A6-C6D9-5757-3909-94CE44844026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6285282" y="3419731"/>
            <a:ext cx="762390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CFA068C1-6910-805B-6232-D72C04697854}"/>
              </a:ext>
            </a:extLst>
          </p:cNvPr>
          <p:cNvCxnSpPr>
            <a:cxnSpLocks/>
          </p:cNvCxnSpPr>
          <p:nvPr/>
        </p:nvCxnSpPr>
        <p:spPr>
          <a:xfrm>
            <a:off x="2055121" y="4395268"/>
            <a:ext cx="71483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2" name="Ellipse 51">
            <a:extLst>
              <a:ext uri="{FF2B5EF4-FFF2-40B4-BE49-F238E27FC236}">
                <a16:creationId xmlns:a16="http://schemas.microsoft.com/office/drawing/2014/main" id="{8458F6A4-17D0-BA6E-D526-0A890F1CB9D0}"/>
              </a:ext>
            </a:extLst>
          </p:cNvPr>
          <p:cNvSpPr/>
          <p:nvPr/>
        </p:nvSpPr>
        <p:spPr>
          <a:xfrm>
            <a:off x="6993550" y="948882"/>
            <a:ext cx="254000" cy="22339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1</a:t>
            </a:r>
            <a:endParaRPr lang="fr-FR" sz="900" b="1" dirty="0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3B75BC2B-FAFA-A78B-DD4B-15384FDD152E}"/>
              </a:ext>
            </a:extLst>
          </p:cNvPr>
          <p:cNvSpPr/>
          <p:nvPr/>
        </p:nvSpPr>
        <p:spPr>
          <a:xfrm>
            <a:off x="1865646" y="1939126"/>
            <a:ext cx="254000" cy="22339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2</a:t>
            </a:r>
            <a:endParaRPr lang="fr-FR" sz="900" b="1" dirty="0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A6623C0E-987D-BD1B-7C20-4D98EFCA6B2C}"/>
              </a:ext>
            </a:extLst>
          </p:cNvPr>
          <p:cNvSpPr/>
          <p:nvPr/>
        </p:nvSpPr>
        <p:spPr>
          <a:xfrm>
            <a:off x="7447759" y="3029476"/>
            <a:ext cx="254000" cy="22339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3</a:t>
            </a:r>
            <a:endParaRPr lang="fr-FR" sz="900" b="1" dirty="0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C611C1FC-43B1-94FC-A98C-1B250330150E}"/>
              </a:ext>
            </a:extLst>
          </p:cNvPr>
          <p:cNvSpPr/>
          <p:nvPr/>
        </p:nvSpPr>
        <p:spPr>
          <a:xfrm>
            <a:off x="1121868" y="3988559"/>
            <a:ext cx="254000" cy="22339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4</a:t>
            </a:r>
            <a:endParaRPr lang="fr-FR" sz="900" b="1" dirty="0"/>
          </a:p>
        </p:txBody>
      </p:sp>
      <p:sp>
        <p:nvSpPr>
          <p:cNvPr id="58" name="Espace réservé du contenu 2">
            <a:extLst>
              <a:ext uri="{FF2B5EF4-FFF2-40B4-BE49-F238E27FC236}">
                <a16:creationId xmlns:a16="http://schemas.microsoft.com/office/drawing/2014/main" id="{5B2D9BB3-396C-D762-CD82-33D1A16214AA}"/>
              </a:ext>
            </a:extLst>
          </p:cNvPr>
          <p:cNvSpPr txBox="1">
            <a:spLocks/>
          </p:cNvSpPr>
          <p:nvPr/>
        </p:nvSpPr>
        <p:spPr>
          <a:xfrm>
            <a:off x="4572000" y="1862551"/>
            <a:ext cx="1190098" cy="1891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0"/>
              </a:buBlip>
              <a:tabLst/>
              <a:defRPr sz="2400" b="1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1pPr>
            <a:lvl2pPr marL="53340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1"/>
              </a:buBlip>
              <a:tabLst/>
              <a:defRPr sz="20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2pPr>
            <a:lvl3pPr marL="717550" marR="0" indent="-2667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2"/>
              </a:buBlip>
              <a:tabLst/>
              <a:defRPr sz="18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3pPr>
            <a:lvl4pPr marL="987425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3"/>
              </a:buBlip>
              <a:tabLst/>
              <a:defRPr sz="1600" i="1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4pPr>
            <a:lvl5pPr marL="1246188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4"/>
              </a:buBlip>
              <a:tabLst/>
              <a:defRPr sz="16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800" dirty="0"/>
              <a:t>Corpus </a:t>
            </a:r>
            <a:r>
              <a:rPr lang="fr-FR" sz="800" b="1" dirty="0"/>
              <a:t>d'entraînement</a:t>
            </a:r>
            <a:endParaRPr lang="fr-FR" sz="800" dirty="0"/>
          </a:p>
        </p:txBody>
      </p:sp>
      <p:sp>
        <p:nvSpPr>
          <p:cNvPr id="59" name="Espace réservé du contenu 2">
            <a:extLst>
              <a:ext uri="{FF2B5EF4-FFF2-40B4-BE49-F238E27FC236}">
                <a16:creationId xmlns:a16="http://schemas.microsoft.com/office/drawing/2014/main" id="{BA706679-2D3C-75E2-BCE7-63E83FED5ED4}"/>
              </a:ext>
            </a:extLst>
          </p:cNvPr>
          <p:cNvSpPr txBox="1">
            <a:spLocks/>
          </p:cNvSpPr>
          <p:nvPr/>
        </p:nvSpPr>
        <p:spPr>
          <a:xfrm>
            <a:off x="4574304" y="2549610"/>
            <a:ext cx="1190098" cy="1891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0"/>
              </a:buBlip>
              <a:tabLst/>
              <a:defRPr sz="2400" b="1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1pPr>
            <a:lvl2pPr marL="53340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1"/>
              </a:buBlip>
              <a:tabLst/>
              <a:defRPr sz="20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2pPr>
            <a:lvl3pPr marL="717550" marR="0" indent="-2667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2"/>
              </a:buBlip>
              <a:tabLst/>
              <a:defRPr sz="18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3pPr>
            <a:lvl4pPr marL="987425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3"/>
              </a:buBlip>
              <a:tabLst/>
              <a:defRPr sz="1600" i="1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4pPr>
            <a:lvl5pPr marL="1246188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4"/>
              </a:buBlip>
              <a:tabLst/>
              <a:defRPr sz="16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800" dirty="0" err="1"/>
              <a:t>Poids</a:t>
            </a:r>
            <a:r>
              <a:rPr lang="en-US" sz="800" dirty="0"/>
              <a:t> mis a jour</a:t>
            </a:r>
            <a:endParaRPr lang="fr-FR" sz="800" dirty="0"/>
          </a:p>
        </p:txBody>
      </p:sp>
      <p:cxnSp>
        <p:nvCxnSpPr>
          <p:cNvPr id="60" name="Connecteur : en angle 59">
            <a:extLst>
              <a:ext uri="{FF2B5EF4-FFF2-40B4-BE49-F238E27FC236}">
                <a16:creationId xmlns:a16="http://schemas.microsoft.com/office/drawing/2014/main" id="{E838D575-78D7-9F12-5A2F-0C3AA963D6C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971740" y="3693998"/>
            <a:ext cx="606032" cy="460048"/>
          </a:xfrm>
          <a:prstGeom prst="bentConnector3">
            <a:avLst>
              <a:gd name="adj1" fmla="val 31045"/>
            </a:avLst>
          </a:prstGeom>
          <a:ln w="19050" cap="flat" cmpd="sng" algn="ctr">
            <a:solidFill>
              <a:srgbClr val="FF0000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7" name="Espace réservé du contenu 2">
            <a:extLst>
              <a:ext uri="{FF2B5EF4-FFF2-40B4-BE49-F238E27FC236}">
                <a16:creationId xmlns:a16="http://schemas.microsoft.com/office/drawing/2014/main" id="{7AA3875B-F671-2254-A383-B8D596024EF0}"/>
              </a:ext>
            </a:extLst>
          </p:cNvPr>
          <p:cNvSpPr txBox="1">
            <a:spLocks/>
          </p:cNvSpPr>
          <p:nvPr/>
        </p:nvSpPr>
        <p:spPr>
          <a:xfrm>
            <a:off x="5518361" y="3736565"/>
            <a:ext cx="1998247" cy="1891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0"/>
              </a:buBlip>
              <a:tabLst/>
              <a:defRPr sz="2400" b="1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1pPr>
            <a:lvl2pPr marL="53340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1"/>
              </a:buBlip>
              <a:tabLst/>
              <a:defRPr sz="20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2pPr>
            <a:lvl3pPr marL="717550" marR="0" indent="-2667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2"/>
              </a:buBlip>
              <a:tabLst/>
              <a:defRPr sz="18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3pPr>
            <a:lvl4pPr marL="987425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3"/>
              </a:buBlip>
              <a:tabLst/>
              <a:defRPr sz="1600" i="1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4pPr>
            <a:lvl5pPr marL="1246188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4"/>
              </a:buBlip>
              <a:tabLst/>
              <a:defRPr sz="16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800" dirty="0">
                <a:solidFill>
                  <a:srgbClr val="FF0000"/>
                </a:solidFill>
              </a:rPr>
              <a:t>X </a:t>
            </a:r>
            <a:r>
              <a:rPr lang="en-US" sz="800" dirty="0" err="1">
                <a:solidFill>
                  <a:srgbClr val="FF0000"/>
                </a:solidFill>
              </a:rPr>
              <a:t>insatisfait</a:t>
            </a:r>
            <a:r>
              <a:rPr lang="en-US" sz="800" dirty="0">
                <a:solidFill>
                  <a:srgbClr val="FF0000"/>
                </a:solidFill>
              </a:rPr>
              <a:t> --&gt; retour aux prompts de test</a:t>
            </a:r>
            <a:endParaRPr lang="fr-FR" sz="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994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7" grpId="0" animBg="1"/>
      <p:bldP spid="28" grpId="0" animBg="1"/>
      <p:bldP spid="31" grpId="0" animBg="1"/>
      <p:bldP spid="44" grpId="0" animBg="1"/>
      <p:bldP spid="45" grpId="0" animBg="1"/>
      <p:bldP spid="46" grpId="0" animBg="1"/>
      <p:bldP spid="47" grpId="0" animBg="1"/>
      <p:bldP spid="52" grpId="0" animBg="1"/>
      <p:bldP spid="53" grpId="0" animBg="1"/>
      <p:bldP spid="54" grpId="0" animBg="1"/>
      <p:bldP spid="55" grpId="0" animBg="1"/>
      <p:bldP spid="58" grpId="0"/>
      <p:bldP spid="59" grpId="0"/>
      <p:bldP spid="6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96E390-E26F-9F61-DD3A-398ECF3D9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/>
              <a:t>Techniques d'optimisation des </a:t>
            </a:r>
            <a:r>
              <a:rPr lang="fr-FR" sz="2800" b="1" dirty="0" err="1"/>
              <a:t>LLMs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3D1F47-4E65-3E9A-1251-7D32B9596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916461"/>
            <a:ext cx="1962916" cy="259853"/>
          </a:xfrm>
        </p:spPr>
        <p:txBody>
          <a:bodyPr>
            <a:normAutofit/>
          </a:bodyPr>
          <a:lstStyle/>
          <a:p>
            <a:r>
              <a:rPr lang="fr-FR" sz="1000" dirty="0"/>
              <a:t>Systèmes multi-agents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5170AC0D-9075-339A-7FA2-6A1CEFAD2C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6EA8E96-51DF-C982-7818-5D3AC5BAF5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CFFA376B-542F-6C8F-C56D-921C5FFBAB68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  <a:endParaRPr lang="fr-FR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5061A9C-0D81-33A8-D6A3-1FD738FCA6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299" y="1168234"/>
            <a:ext cx="3565700" cy="343152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216C846-28A5-28CF-BA1E-F97992BD6C75}"/>
              </a:ext>
            </a:extLst>
          </p:cNvPr>
          <p:cNvSpPr/>
          <p:nvPr/>
        </p:nvSpPr>
        <p:spPr>
          <a:xfrm>
            <a:off x="2480851" y="1123373"/>
            <a:ext cx="3663681" cy="422738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AE47C54-B0A7-FADE-B2E1-2BDE6C1D9C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890" y="1778361"/>
            <a:ext cx="3558109" cy="243706"/>
          </a:xfrm>
          <a:prstGeom prst="rect">
            <a:avLst/>
          </a:prstGeom>
        </p:spPr>
      </p:pic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624F8B74-5C7D-67C8-D017-C68D9DBCB227}"/>
              </a:ext>
            </a:extLst>
          </p:cNvPr>
          <p:cNvSpPr/>
          <p:nvPr/>
        </p:nvSpPr>
        <p:spPr>
          <a:xfrm>
            <a:off x="2480851" y="1734028"/>
            <a:ext cx="3663681" cy="330839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A360675E-6649-6AE7-8114-0CAEACFFE0B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747" y="2064867"/>
            <a:ext cx="3507889" cy="1166596"/>
          </a:xfrm>
          <a:prstGeom prst="rect">
            <a:avLst/>
          </a:prstGeom>
        </p:spPr>
      </p:pic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963A696-5C47-FBEB-D43F-647F572A8C8F}"/>
              </a:ext>
            </a:extLst>
          </p:cNvPr>
          <p:cNvSpPr/>
          <p:nvPr/>
        </p:nvSpPr>
        <p:spPr>
          <a:xfrm>
            <a:off x="2508527" y="2257806"/>
            <a:ext cx="3610643" cy="71968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A5991A5F-DC72-BFA4-A3EC-4703E3B5BF0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287" y="3238840"/>
            <a:ext cx="3417724" cy="287076"/>
          </a:xfrm>
          <a:prstGeom prst="rect">
            <a:avLst/>
          </a:prstGeom>
        </p:spPr>
      </p:pic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7EE314EE-B68A-827E-B222-D9F7E9C9830E}"/>
              </a:ext>
            </a:extLst>
          </p:cNvPr>
          <p:cNvSpPr/>
          <p:nvPr/>
        </p:nvSpPr>
        <p:spPr>
          <a:xfrm>
            <a:off x="2558747" y="3210211"/>
            <a:ext cx="3507890" cy="330839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B8A8A2BA-5B24-E736-A984-481AC76BC30F}"/>
              </a:ext>
            </a:extLst>
          </p:cNvPr>
          <p:cNvSpPr/>
          <p:nvPr/>
        </p:nvSpPr>
        <p:spPr>
          <a:xfrm>
            <a:off x="2588416" y="4122978"/>
            <a:ext cx="3485718" cy="524190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B7B21B9E-C4DF-E3E9-750B-411E697972A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249" y="4174278"/>
            <a:ext cx="3366762" cy="429620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02B1EC55-BA3A-8A27-68E6-54FEE5696AF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661" y="3763968"/>
            <a:ext cx="1490631" cy="212043"/>
          </a:xfrm>
          <a:prstGeom prst="rect">
            <a:avLst/>
          </a:prstGeom>
        </p:spPr>
      </p:pic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8C2675C6-C1BD-F4A4-FF86-EEAF56F207F2}"/>
              </a:ext>
            </a:extLst>
          </p:cNvPr>
          <p:cNvCxnSpPr>
            <a:cxnSpLocks/>
            <a:stCxn id="21" idx="2"/>
            <a:endCxn id="24" idx="0"/>
          </p:cNvCxnSpPr>
          <p:nvPr/>
        </p:nvCxnSpPr>
        <p:spPr>
          <a:xfrm>
            <a:off x="4312692" y="3541050"/>
            <a:ext cx="2285" cy="222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3AAC0390-C957-1185-C615-D0823289D07F}"/>
              </a:ext>
            </a:extLst>
          </p:cNvPr>
          <p:cNvCxnSpPr>
            <a:cxnSpLocks/>
          </p:cNvCxnSpPr>
          <p:nvPr/>
        </p:nvCxnSpPr>
        <p:spPr>
          <a:xfrm>
            <a:off x="4323890" y="3968411"/>
            <a:ext cx="1" cy="156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053DF160-7ABF-058E-371F-28A1A3C0DAA6}"/>
              </a:ext>
            </a:extLst>
          </p:cNvPr>
          <p:cNvCxnSpPr>
            <a:cxnSpLocks/>
          </p:cNvCxnSpPr>
          <p:nvPr/>
        </p:nvCxnSpPr>
        <p:spPr>
          <a:xfrm>
            <a:off x="2898205" y="2060956"/>
            <a:ext cx="0" cy="282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AB23391D-1C70-8D3C-8A75-C1105CB50FD2}"/>
              </a:ext>
            </a:extLst>
          </p:cNvPr>
          <p:cNvCxnSpPr>
            <a:cxnSpLocks/>
          </p:cNvCxnSpPr>
          <p:nvPr/>
        </p:nvCxnSpPr>
        <p:spPr>
          <a:xfrm>
            <a:off x="3569661" y="2060956"/>
            <a:ext cx="0" cy="282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3266A886-9FB9-6614-7D1D-4E13100D6C57}"/>
              </a:ext>
            </a:extLst>
          </p:cNvPr>
          <p:cNvCxnSpPr>
            <a:cxnSpLocks/>
          </p:cNvCxnSpPr>
          <p:nvPr/>
        </p:nvCxnSpPr>
        <p:spPr>
          <a:xfrm>
            <a:off x="4263330" y="2060956"/>
            <a:ext cx="0" cy="282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3DB365CE-4619-981B-9E74-8A0087E546F6}"/>
              </a:ext>
            </a:extLst>
          </p:cNvPr>
          <p:cNvCxnSpPr>
            <a:cxnSpLocks/>
          </p:cNvCxnSpPr>
          <p:nvPr/>
        </p:nvCxnSpPr>
        <p:spPr>
          <a:xfrm>
            <a:off x="4957937" y="2060955"/>
            <a:ext cx="0" cy="282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52146A41-026A-999D-E16D-CA5C1618718E}"/>
              </a:ext>
            </a:extLst>
          </p:cNvPr>
          <p:cNvCxnSpPr>
            <a:cxnSpLocks/>
          </p:cNvCxnSpPr>
          <p:nvPr/>
        </p:nvCxnSpPr>
        <p:spPr>
          <a:xfrm>
            <a:off x="5689304" y="2060954"/>
            <a:ext cx="0" cy="282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244CFD3E-7BD3-1CED-BD95-EB260F106393}"/>
              </a:ext>
            </a:extLst>
          </p:cNvPr>
          <p:cNvCxnSpPr>
            <a:cxnSpLocks/>
            <a:stCxn id="10" idx="2"/>
            <a:endCxn id="15" idx="0"/>
          </p:cNvCxnSpPr>
          <p:nvPr/>
        </p:nvCxnSpPr>
        <p:spPr>
          <a:xfrm>
            <a:off x="4312692" y="1546111"/>
            <a:ext cx="0" cy="187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eur : en angle 47">
            <a:extLst>
              <a:ext uri="{FF2B5EF4-FFF2-40B4-BE49-F238E27FC236}">
                <a16:creationId xmlns:a16="http://schemas.microsoft.com/office/drawing/2014/main" id="{687623A1-0F96-A53C-7C77-6A33A6502F7C}"/>
              </a:ext>
            </a:extLst>
          </p:cNvPr>
          <p:cNvCxnSpPr>
            <a:cxnSpLocks/>
            <a:stCxn id="17" idx="3"/>
          </p:cNvCxnSpPr>
          <p:nvPr/>
        </p:nvCxnSpPr>
        <p:spPr>
          <a:xfrm flipH="1" flipV="1">
            <a:off x="4956999" y="1487269"/>
            <a:ext cx="1109637" cy="1160896"/>
          </a:xfrm>
          <a:prstGeom prst="bentConnector4">
            <a:avLst>
              <a:gd name="adj1" fmla="val -20601"/>
              <a:gd name="adj2" fmla="val 85414"/>
            </a:avLst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space réservé du contenu 2">
            <a:extLst>
              <a:ext uri="{FF2B5EF4-FFF2-40B4-BE49-F238E27FC236}">
                <a16:creationId xmlns:a16="http://schemas.microsoft.com/office/drawing/2014/main" id="{906DD9B1-F5BD-3663-4705-BABA73E96A0A}"/>
              </a:ext>
            </a:extLst>
          </p:cNvPr>
          <p:cNvSpPr txBox="1">
            <a:spLocks/>
          </p:cNvSpPr>
          <p:nvPr/>
        </p:nvSpPr>
        <p:spPr>
          <a:xfrm>
            <a:off x="6263896" y="2013057"/>
            <a:ext cx="1005354" cy="1891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0"/>
              </a:buBlip>
              <a:tabLst/>
              <a:defRPr sz="2400" b="1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1pPr>
            <a:lvl2pPr marL="53340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1"/>
              </a:buBlip>
              <a:tabLst/>
              <a:defRPr sz="20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2pPr>
            <a:lvl3pPr marL="717550" marR="0" indent="-2667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2"/>
              </a:buBlip>
              <a:tabLst/>
              <a:defRPr sz="18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3pPr>
            <a:lvl4pPr marL="987425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3"/>
              </a:buBlip>
              <a:tabLst/>
              <a:defRPr sz="1600" i="1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4pPr>
            <a:lvl5pPr marL="1246188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4"/>
              </a:buBlip>
              <a:tabLst/>
              <a:defRPr sz="16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800" dirty="0">
                <a:solidFill>
                  <a:srgbClr val="00B050"/>
                </a:solidFill>
              </a:rPr>
              <a:t>MCP –&gt; </a:t>
            </a:r>
            <a:r>
              <a:rPr lang="en-US" sz="800" dirty="0" err="1">
                <a:solidFill>
                  <a:srgbClr val="00B050"/>
                </a:solidFill>
              </a:rPr>
              <a:t>ArangoDB</a:t>
            </a:r>
            <a:endParaRPr lang="fr-FR" sz="800" dirty="0">
              <a:solidFill>
                <a:srgbClr val="00B050"/>
              </a:solidFill>
            </a:endParaRPr>
          </a:p>
        </p:txBody>
      </p:sp>
      <p:cxnSp>
        <p:nvCxnSpPr>
          <p:cNvPr id="59" name="Connecteur : en angle 58">
            <a:extLst>
              <a:ext uri="{FF2B5EF4-FFF2-40B4-BE49-F238E27FC236}">
                <a16:creationId xmlns:a16="http://schemas.microsoft.com/office/drawing/2014/main" id="{E341B5CE-EE98-CF1B-5B3A-7111CFC7DE99}"/>
              </a:ext>
            </a:extLst>
          </p:cNvPr>
          <p:cNvCxnSpPr>
            <a:cxnSpLocks/>
            <a:stCxn id="22" idx="1"/>
            <a:endCxn id="18" idx="1"/>
          </p:cNvCxnSpPr>
          <p:nvPr/>
        </p:nvCxnSpPr>
        <p:spPr>
          <a:xfrm rot="10800000">
            <a:off x="2508528" y="2617649"/>
            <a:ext cx="79889" cy="1767424"/>
          </a:xfrm>
          <a:prstGeom prst="bentConnector3">
            <a:avLst>
              <a:gd name="adj1" fmla="val 650725"/>
            </a:avLst>
          </a:prstGeom>
          <a:ln>
            <a:solidFill>
              <a:srgbClr val="FF0000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Espace réservé du contenu 2">
            <a:extLst>
              <a:ext uri="{FF2B5EF4-FFF2-40B4-BE49-F238E27FC236}">
                <a16:creationId xmlns:a16="http://schemas.microsoft.com/office/drawing/2014/main" id="{5399AB65-B835-0DFF-3424-08D21E1BED63}"/>
              </a:ext>
            </a:extLst>
          </p:cNvPr>
          <p:cNvSpPr txBox="1">
            <a:spLocks/>
          </p:cNvSpPr>
          <p:nvPr/>
        </p:nvSpPr>
        <p:spPr>
          <a:xfrm>
            <a:off x="474286" y="2969267"/>
            <a:ext cx="1576240" cy="3597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0"/>
              </a:buBlip>
              <a:tabLst/>
              <a:defRPr sz="2400" b="1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1pPr>
            <a:lvl2pPr marL="53340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1"/>
              </a:buBlip>
              <a:tabLst/>
              <a:defRPr sz="20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2pPr>
            <a:lvl3pPr marL="717550" marR="0" indent="-2667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2"/>
              </a:buBlip>
              <a:tabLst/>
              <a:defRPr sz="18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3pPr>
            <a:lvl4pPr marL="987425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3"/>
              </a:buBlip>
              <a:tabLst/>
              <a:defRPr sz="1600" i="1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4pPr>
            <a:lvl5pPr marL="1246188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14"/>
              </a:buBlip>
              <a:tabLst/>
              <a:defRPr sz="1600" kern="1200">
                <a:solidFill>
                  <a:srgbClr val="184A7C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800" dirty="0">
                <a:solidFill>
                  <a:srgbClr val="FF0000"/>
                </a:solidFill>
              </a:rPr>
              <a:t>X </a:t>
            </a:r>
            <a:r>
              <a:rPr lang="en-US" sz="800" dirty="0" err="1">
                <a:solidFill>
                  <a:srgbClr val="FF0000"/>
                </a:solidFill>
              </a:rPr>
              <a:t>insatisfait</a:t>
            </a:r>
            <a:r>
              <a:rPr lang="en-US" sz="800" dirty="0">
                <a:solidFill>
                  <a:srgbClr val="FF0000"/>
                </a:solidFill>
              </a:rPr>
              <a:t> --&gt; retour </a:t>
            </a:r>
            <a:r>
              <a:rPr lang="fr-FR" sz="800" dirty="0">
                <a:solidFill>
                  <a:srgbClr val="FF0000"/>
                </a:solidFill>
              </a:rPr>
              <a:t>à l’agent </a:t>
            </a:r>
          </a:p>
          <a:p>
            <a:pPr marL="0" indent="0">
              <a:buFontTx/>
              <a:buNone/>
            </a:pPr>
            <a:r>
              <a:rPr lang="fr-FR" sz="800" dirty="0">
                <a:solidFill>
                  <a:srgbClr val="FF0000"/>
                </a:solidFill>
              </a:rPr>
              <a:t>concerné </a:t>
            </a:r>
            <a:r>
              <a:rPr lang="en-US" sz="800" dirty="0">
                <a:solidFill>
                  <a:srgbClr val="FF0000"/>
                </a:solidFill>
              </a:rPr>
              <a:t>(prompts de test)</a:t>
            </a:r>
            <a:endParaRPr lang="fr-FR" sz="800" dirty="0">
              <a:solidFill>
                <a:srgbClr val="FF0000"/>
              </a:solidFill>
            </a:endParaRPr>
          </a:p>
        </p:txBody>
      </p:sp>
      <p:sp>
        <p:nvSpPr>
          <p:cNvPr id="66" name="Rectangle : coins arrondis 65">
            <a:extLst>
              <a:ext uri="{FF2B5EF4-FFF2-40B4-BE49-F238E27FC236}">
                <a16:creationId xmlns:a16="http://schemas.microsoft.com/office/drawing/2014/main" id="{E9C30ABE-5A9C-7167-8CAE-0B9B2C436949}"/>
              </a:ext>
            </a:extLst>
          </p:cNvPr>
          <p:cNvSpPr/>
          <p:nvPr/>
        </p:nvSpPr>
        <p:spPr>
          <a:xfrm>
            <a:off x="6481478" y="1176314"/>
            <a:ext cx="1225265" cy="28565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800" b="1" dirty="0"/>
              <a:t>Sources de données</a:t>
            </a:r>
          </a:p>
        </p:txBody>
      </p:sp>
      <p:sp>
        <p:nvSpPr>
          <p:cNvPr id="67" name="Rectangle : coins arrondis 66">
            <a:extLst>
              <a:ext uri="{FF2B5EF4-FFF2-40B4-BE49-F238E27FC236}">
                <a16:creationId xmlns:a16="http://schemas.microsoft.com/office/drawing/2014/main" id="{220487EB-209C-4249-4A23-723B427700C4}"/>
              </a:ext>
            </a:extLst>
          </p:cNvPr>
          <p:cNvSpPr/>
          <p:nvPr/>
        </p:nvSpPr>
        <p:spPr>
          <a:xfrm>
            <a:off x="730552" y="2260641"/>
            <a:ext cx="1050647" cy="28565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800" b="1" dirty="0"/>
              <a:t>Agents spécialisés</a:t>
            </a:r>
          </a:p>
        </p:txBody>
      </p:sp>
      <p:sp>
        <p:nvSpPr>
          <p:cNvPr id="69" name="Rectangle : coins arrondis 68">
            <a:extLst>
              <a:ext uri="{FF2B5EF4-FFF2-40B4-BE49-F238E27FC236}">
                <a16:creationId xmlns:a16="http://schemas.microsoft.com/office/drawing/2014/main" id="{43E9DD42-4644-5706-8EE7-EF5707CB6A2F}"/>
              </a:ext>
            </a:extLst>
          </p:cNvPr>
          <p:cNvSpPr/>
          <p:nvPr/>
        </p:nvSpPr>
        <p:spPr>
          <a:xfrm>
            <a:off x="292741" y="4276098"/>
            <a:ext cx="1576240" cy="28565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 err="1"/>
              <a:t>Évaluation</a:t>
            </a:r>
            <a:r>
              <a:rPr lang="en-US" sz="800" b="1" dirty="0"/>
              <a:t> – feedback </a:t>
            </a:r>
            <a:r>
              <a:rPr lang="en-US" sz="800" b="1" dirty="0" err="1"/>
              <a:t>humain</a:t>
            </a:r>
            <a:endParaRPr lang="fr-FR" sz="800" b="1" dirty="0"/>
          </a:p>
        </p:txBody>
      </p: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9EF72409-DC36-2AA1-8B7F-2279A9D64B42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6143796" y="1319144"/>
            <a:ext cx="33768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69F06320-0CE0-1D98-8C0E-EE829D78C11A}"/>
              </a:ext>
            </a:extLst>
          </p:cNvPr>
          <p:cNvCxnSpPr>
            <a:cxnSpLocks/>
          </p:cNvCxnSpPr>
          <p:nvPr/>
        </p:nvCxnSpPr>
        <p:spPr>
          <a:xfrm>
            <a:off x="1795941" y="2403471"/>
            <a:ext cx="71258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E93BE47D-69A2-586C-8D59-714D26A6672A}"/>
              </a:ext>
            </a:extLst>
          </p:cNvPr>
          <p:cNvCxnSpPr>
            <a:cxnSpLocks/>
          </p:cNvCxnSpPr>
          <p:nvPr/>
        </p:nvCxnSpPr>
        <p:spPr>
          <a:xfrm>
            <a:off x="1873576" y="4444328"/>
            <a:ext cx="71483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8883DA04-DCF4-4F01-4ACE-2CCC00BF3351}"/>
              </a:ext>
            </a:extLst>
          </p:cNvPr>
          <p:cNvCxnSpPr>
            <a:cxnSpLocks/>
          </p:cNvCxnSpPr>
          <p:nvPr/>
        </p:nvCxnSpPr>
        <p:spPr>
          <a:xfrm>
            <a:off x="2857616" y="2927730"/>
            <a:ext cx="0" cy="282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2D62FAC7-FA1C-59C9-50C6-D0FB7AA31EDA}"/>
              </a:ext>
            </a:extLst>
          </p:cNvPr>
          <p:cNvCxnSpPr>
            <a:cxnSpLocks/>
          </p:cNvCxnSpPr>
          <p:nvPr/>
        </p:nvCxnSpPr>
        <p:spPr>
          <a:xfrm>
            <a:off x="3529072" y="2927730"/>
            <a:ext cx="0" cy="282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Connecteur droit avec flèche 86">
            <a:extLst>
              <a:ext uri="{FF2B5EF4-FFF2-40B4-BE49-F238E27FC236}">
                <a16:creationId xmlns:a16="http://schemas.microsoft.com/office/drawing/2014/main" id="{A47F0A25-75C7-B04E-0E86-1062B0AB0E7B}"/>
              </a:ext>
            </a:extLst>
          </p:cNvPr>
          <p:cNvCxnSpPr>
            <a:cxnSpLocks/>
          </p:cNvCxnSpPr>
          <p:nvPr/>
        </p:nvCxnSpPr>
        <p:spPr>
          <a:xfrm>
            <a:off x="4222741" y="2927730"/>
            <a:ext cx="0" cy="282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Connecteur droit avec flèche 87">
            <a:extLst>
              <a:ext uri="{FF2B5EF4-FFF2-40B4-BE49-F238E27FC236}">
                <a16:creationId xmlns:a16="http://schemas.microsoft.com/office/drawing/2014/main" id="{A45E3A35-CADD-3CF1-54D0-8D1CE25443F8}"/>
              </a:ext>
            </a:extLst>
          </p:cNvPr>
          <p:cNvCxnSpPr>
            <a:cxnSpLocks/>
          </p:cNvCxnSpPr>
          <p:nvPr/>
        </p:nvCxnSpPr>
        <p:spPr>
          <a:xfrm>
            <a:off x="4917348" y="2927729"/>
            <a:ext cx="0" cy="282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Connecteur droit avec flèche 88">
            <a:extLst>
              <a:ext uri="{FF2B5EF4-FFF2-40B4-BE49-F238E27FC236}">
                <a16:creationId xmlns:a16="http://schemas.microsoft.com/office/drawing/2014/main" id="{1ED90DD6-F79C-7D38-086C-384178926A5D}"/>
              </a:ext>
            </a:extLst>
          </p:cNvPr>
          <p:cNvCxnSpPr>
            <a:cxnSpLocks/>
          </p:cNvCxnSpPr>
          <p:nvPr/>
        </p:nvCxnSpPr>
        <p:spPr>
          <a:xfrm>
            <a:off x="5648715" y="2927728"/>
            <a:ext cx="0" cy="282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478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18" grpId="0" animBg="1"/>
      <p:bldP spid="21" grpId="0" animBg="1"/>
      <p:bldP spid="22" grpId="0" animBg="1"/>
      <p:bldP spid="58" grpId="0"/>
      <p:bldP spid="60" grpId="0"/>
      <p:bldP spid="66" grpId="0" animBg="1"/>
      <p:bldP spid="67" grpId="0" animBg="1"/>
      <p:bldP spid="6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0D6B12-FC59-7AA3-1E04-479E7F6EC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Références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FF211F-32BC-2754-FBA8-567971596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1200" dirty="0"/>
              <a:t>Anaïs </a:t>
            </a:r>
            <a:r>
              <a:rPr lang="fr-FR" sz="1200" dirty="0" err="1"/>
              <a:t>Guillem</a:t>
            </a:r>
            <a:r>
              <a:rPr lang="fr-FR" sz="1200" dirty="0"/>
              <a:t> et al., </a:t>
            </a:r>
            <a:r>
              <a:rPr lang="fr-FR" sz="1200" i="1" dirty="0" err="1"/>
              <a:t>LLMtheso</a:t>
            </a:r>
            <a:r>
              <a:rPr lang="fr-FR" sz="1200" i="1" dirty="0"/>
              <a:t>: </a:t>
            </a:r>
            <a:r>
              <a:rPr lang="fr-FR" sz="1200" i="1" dirty="0" err="1"/>
              <a:t>Curating</a:t>
            </a:r>
            <a:r>
              <a:rPr lang="fr-FR" sz="1200" i="1" dirty="0"/>
              <a:t> </a:t>
            </a:r>
            <a:r>
              <a:rPr lang="fr-FR" sz="1200" i="1" dirty="0" err="1"/>
              <a:t>Heritage</a:t>
            </a:r>
            <a:r>
              <a:rPr lang="fr-FR" sz="1200" i="1" dirty="0"/>
              <a:t> Science Thesaurus </a:t>
            </a:r>
            <a:r>
              <a:rPr lang="fr-FR" sz="1200" i="1" dirty="0" err="1"/>
              <a:t>from</a:t>
            </a:r>
            <a:r>
              <a:rPr lang="fr-FR" sz="1200" i="1" dirty="0"/>
              <a:t> “Dirty” Data </a:t>
            </a:r>
            <a:r>
              <a:rPr lang="fr-FR" sz="1200" i="1" dirty="0" err="1"/>
              <a:t>Using</a:t>
            </a:r>
            <a:r>
              <a:rPr lang="fr-FR" sz="1200" i="1" dirty="0"/>
              <a:t> a Neuro-</a:t>
            </a:r>
            <a:r>
              <a:rPr lang="fr-FR" sz="1200" i="1" dirty="0" err="1"/>
              <a:t>Symbolic</a:t>
            </a:r>
            <a:r>
              <a:rPr lang="fr-FR" sz="1200" i="1" dirty="0"/>
              <a:t> LLM–SKOS Workflow</a:t>
            </a:r>
            <a:r>
              <a:rPr lang="fr-FR" sz="1200" dirty="0"/>
              <a:t>, CNRS, 2024.</a:t>
            </a:r>
          </a:p>
          <a:p>
            <a:r>
              <a:rPr lang="en-US" sz="1200" dirty="0"/>
              <a:t>Lewis, Patrick et </a:t>
            </a:r>
            <a:r>
              <a:rPr lang="en-US" sz="1200" dirty="0" err="1"/>
              <a:t>al.,Retrieval</a:t>
            </a:r>
            <a:r>
              <a:rPr lang="en-US" sz="1200" dirty="0"/>
              <a:t>-Augmented Generation for Knowledge-Intensive NLP Tasks, 2020.</a:t>
            </a:r>
          </a:p>
          <a:p>
            <a:r>
              <a:rPr lang="fr-FR" sz="1200" dirty="0"/>
              <a:t>Gao, </a:t>
            </a:r>
            <a:r>
              <a:rPr lang="fr-FR" sz="1200" dirty="0" err="1"/>
              <a:t>Yunfan</a:t>
            </a:r>
            <a:r>
              <a:rPr lang="fr-FR" sz="1200" dirty="0"/>
              <a:t> et al., </a:t>
            </a:r>
            <a:r>
              <a:rPr lang="fr-FR" sz="1200" dirty="0" err="1"/>
              <a:t>Retrieval-Augmented</a:t>
            </a:r>
            <a:r>
              <a:rPr lang="fr-FR" sz="1200" dirty="0"/>
              <a:t> </a:t>
            </a:r>
            <a:r>
              <a:rPr lang="fr-FR" sz="1200" dirty="0" err="1"/>
              <a:t>Generation</a:t>
            </a:r>
            <a:r>
              <a:rPr lang="fr-FR" sz="1200" dirty="0"/>
              <a:t> for Large </a:t>
            </a:r>
            <a:r>
              <a:rPr lang="fr-FR" sz="1200" dirty="0" err="1"/>
              <a:t>Language</a:t>
            </a:r>
            <a:r>
              <a:rPr lang="fr-FR" sz="1200" dirty="0"/>
              <a:t> </a:t>
            </a:r>
            <a:r>
              <a:rPr lang="fr-FR" sz="1200" dirty="0" err="1"/>
              <a:t>Models</a:t>
            </a:r>
            <a:r>
              <a:rPr lang="fr-FR" sz="1200" dirty="0"/>
              <a:t>: A Survey, 2023.</a:t>
            </a:r>
          </a:p>
          <a:p>
            <a:r>
              <a:rPr lang="fr-FR" sz="1200" dirty="0"/>
              <a:t>Howard, Jeremy &amp; </a:t>
            </a:r>
            <a:r>
              <a:rPr lang="fr-FR" sz="1200" dirty="0" err="1"/>
              <a:t>Ruder</a:t>
            </a:r>
            <a:r>
              <a:rPr lang="fr-FR" sz="1200" dirty="0"/>
              <a:t>, Sebastian, Universal </a:t>
            </a:r>
            <a:r>
              <a:rPr lang="fr-FR" sz="1200" dirty="0" err="1"/>
              <a:t>Language</a:t>
            </a:r>
            <a:r>
              <a:rPr lang="fr-FR" sz="1200" dirty="0"/>
              <a:t> Model Fine-tuning for </a:t>
            </a:r>
            <a:r>
              <a:rPr lang="fr-FR" sz="1200" dirty="0" err="1"/>
              <a:t>Text</a:t>
            </a:r>
            <a:r>
              <a:rPr lang="fr-FR" sz="1200" dirty="0"/>
              <a:t> Classification (</a:t>
            </a:r>
            <a:r>
              <a:rPr lang="fr-FR" sz="1200" dirty="0" err="1"/>
              <a:t>ULMFiT</a:t>
            </a:r>
            <a:r>
              <a:rPr lang="fr-FR" sz="1200" dirty="0"/>
              <a:t>), 2018.</a:t>
            </a:r>
          </a:p>
          <a:p>
            <a:r>
              <a:rPr lang="en-US" sz="1200" dirty="0"/>
              <a:t>Devlin, Jacob et al., BERT: Pre-training of Deep Bidirectional Transformers for Language Understanding, 2018.</a:t>
            </a:r>
          </a:p>
          <a:p>
            <a:r>
              <a:rPr lang="fr-FR" sz="1200" dirty="0" err="1"/>
              <a:t>Xinyi</a:t>
            </a:r>
            <a:r>
              <a:rPr lang="fr-FR" sz="1200" dirty="0"/>
              <a:t> Li et al., A Survey on LLM-</a:t>
            </a:r>
            <a:r>
              <a:rPr lang="fr-FR" sz="1200" dirty="0" err="1"/>
              <a:t>based</a:t>
            </a:r>
            <a:r>
              <a:rPr lang="fr-FR" sz="1200" dirty="0"/>
              <a:t> Multi-Agent </a:t>
            </a:r>
            <a:r>
              <a:rPr lang="fr-FR" sz="1200" dirty="0" err="1"/>
              <a:t>Systems</a:t>
            </a:r>
            <a:r>
              <a:rPr lang="fr-FR" sz="1200" dirty="0"/>
              <a:t>: Workflow, Infrastructure, and Challenges, 2024.</a:t>
            </a:r>
          </a:p>
          <a:p>
            <a:r>
              <a:rPr lang="fr-FR" sz="1200" dirty="0"/>
              <a:t>Martin </a:t>
            </a:r>
            <a:r>
              <a:rPr lang="fr-FR" sz="1200" dirty="0" err="1"/>
              <a:t>Kenyeres</a:t>
            </a:r>
            <a:r>
              <a:rPr lang="fr-FR" sz="1200" dirty="0"/>
              <a:t> et al., Modern Trends in Multi-Agent </a:t>
            </a:r>
            <a:r>
              <a:rPr lang="fr-FR" sz="1200" dirty="0" err="1"/>
              <a:t>Systems</a:t>
            </a:r>
            <a:r>
              <a:rPr lang="fr-FR" sz="1200" dirty="0"/>
              <a:t>, 2024.</a:t>
            </a:r>
          </a:p>
          <a:p>
            <a:r>
              <a:rPr lang="fr-FR" sz="1200" dirty="0" err="1"/>
              <a:t>Anthropic</a:t>
            </a:r>
            <a:r>
              <a:rPr lang="fr-FR" sz="1200" dirty="0"/>
              <a:t>, Model </a:t>
            </a:r>
            <a:r>
              <a:rPr lang="fr-FR" sz="1200" dirty="0" err="1"/>
              <a:t>Context</a:t>
            </a:r>
            <a:r>
              <a:rPr lang="fr-FR" sz="1200" dirty="0"/>
              <a:t> Protocol (MCP), 2024.</a:t>
            </a:r>
          </a:p>
          <a:p>
            <a:r>
              <a:rPr lang="fr-FR" sz="1200" dirty="0" err="1"/>
              <a:t>Anthropic</a:t>
            </a:r>
            <a:r>
              <a:rPr lang="fr-FR" sz="1200" dirty="0"/>
              <a:t>, </a:t>
            </a:r>
            <a:r>
              <a:rPr lang="fr-FR" sz="1200" dirty="0" err="1"/>
              <a:t>Introducing</a:t>
            </a:r>
            <a:r>
              <a:rPr lang="fr-FR" sz="1200" dirty="0"/>
              <a:t> the Model </a:t>
            </a:r>
            <a:r>
              <a:rPr lang="fr-FR" sz="1200" dirty="0" err="1"/>
              <a:t>Context</a:t>
            </a:r>
            <a:r>
              <a:rPr lang="fr-FR" sz="1200" dirty="0"/>
              <a:t> Protocol, 2024.</a:t>
            </a:r>
          </a:p>
          <a:p>
            <a:pPr marL="0" indent="0">
              <a:buNone/>
            </a:pPr>
            <a:endParaRPr lang="fr-FR" sz="1200" dirty="0"/>
          </a:p>
          <a:p>
            <a:endParaRPr lang="fr-FR" sz="1200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867784DC-2282-F11B-324A-BF58A639F3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8C5727F-2754-31B0-8CCF-64A68C2E20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3AAD2770-EFC8-19AE-661A-D7585868CD20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364495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LIRIS_2015">
      <a:dk1>
        <a:srgbClr val="184A7C"/>
      </a:dk1>
      <a:lt1>
        <a:sysClr val="window" lastClr="FFFFFF"/>
      </a:lt1>
      <a:dk2>
        <a:srgbClr val="727CA1"/>
      </a:dk2>
      <a:lt2>
        <a:srgbClr val="EEECE1"/>
      </a:lt2>
      <a:accent1>
        <a:srgbClr val="B5397D"/>
      </a:accent1>
      <a:accent2>
        <a:srgbClr val="B8B90C"/>
      </a:accent2>
      <a:accent3>
        <a:srgbClr val="9571AB"/>
      </a:accent3>
      <a:accent4>
        <a:srgbClr val="A0C7E7"/>
      </a:accent4>
      <a:accent5>
        <a:srgbClr val="368AD2"/>
      </a:accent5>
      <a:accent6>
        <a:srgbClr val="FF8D40"/>
      </a:accent6>
      <a:hlink>
        <a:srgbClr val="B5397D"/>
      </a:hlink>
      <a:folHlink>
        <a:srgbClr val="800080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4" id="{7D53479B-BFB6-4E85-BA88-194112626D1D}" vid="{7CEA4CB0-7113-45A9-A115-E97C542A1D5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theme_LIRIS_16_9e_2024</Template>
  <TotalTime>0</TotalTime>
  <Words>406</Words>
  <Application>Microsoft Office PowerPoint</Application>
  <PresentationFormat>Affichage à l'écran (16:9)</PresentationFormat>
  <Paragraphs>81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Thème Office</vt:lpstr>
      <vt:lpstr>LLMs et techniques avancées pour la curation automatique des vocabulaires patrimoniaux</vt:lpstr>
      <vt:lpstr>Plan de la présentation</vt:lpstr>
      <vt:lpstr>Licence SMI, parcours  Développement et Bases de Données (09/2019-06/2022)</vt:lpstr>
      <vt:lpstr>Techniques d'optimisation des LLMs</vt:lpstr>
      <vt:lpstr>Techniques d'optimisation des LLMs</vt:lpstr>
      <vt:lpstr>Techniques d'optimisation des LLMs</vt:lpstr>
      <vt:lpstr>Techniques d'optimisation des LLMs</vt:lpstr>
      <vt:lpstr>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Asri Rida</dc:creator>
  <cp:lastModifiedBy>Asri Rida</cp:lastModifiedBy>
  <cp:revision>5</cp:revision>
  <dcterms:created xsi:type="dcterms:W3CDTF">2026-05-20T12:58:41Z</dcterms:created>
  <dcterms:modified xsi:type="dcterms:W3CDTF">2026-05-28T13:43:37Z</dcterms:modified>
</cp:coreProperties>
</file>
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4" r:id="rId6"/>
    <p:sldId id="263" r:id="rId7"/>
    <p:sldId id="282" r:id="rId8"/>
    <p:sldId id="283" r:id="rId9"/>
    <p:sldId id="261" r:id="rId10"/>
    <p:sldId id="265" r:id="rId11"/>
    <p:sldId id="266" r:id="rId12"/>
    <p:sldId id="270" r:id="rId13"/>
    <p:sldId id="267" r:id="rId14"/>
    <p:sldId id="268" r:id="rId15"/>
    <p:sldId id="271" r:id="rId16"/>
    <p:sldId id="269" r:id="rId17"/>
    <p:sldId id="272" r:id="rId18"/>
    <p:sldId id="273" r:id="rId19"/>
    <p:sldId id="274" r:id="rId20"/>
    <p:sldId id="275" r:id="rId21"/>
    <p:sldId id="279" r:id="rId22"/>
    <p:sldId id="280" r:id="rId23"/>
    <p:sldId id="276" r:id="rId24"/>
    <p:sldId id="281" r:id="rId25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27/08/2026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7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1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Service LLM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08/27/2026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02389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1 - Le jeu de données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1A1C20A-93D1-B34B-C6A9-8CB8D3FF753F}"/>
              </a:ext>
            </a:extLst>
          </p:cNvPr>
          <p:cNvSpPr txBox="1">
            <a:spLocks/>
          </p:cNvSpPr>
          <p:nvPr/>
        </p:nvSpPr>
        <p:spPr>
          <a:xfrm>
            <a:off x="690065" y="155235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Approche par fine-tuning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369AB3A-5607-3BE2-91D6-DAF943A6D2D2}"/>
              </a:ext>
            </a:extLst>
          </p:cNvPr>
          <p:cNvSpPr txBox="1">
            <a:spLocks/>
          </p:cNvSpPr>
          <p:nvPr/>
        </p:nvSpPr>
        <p:spPr>
          <a:xfrm>
            <a:off x="690065" y="2069599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3 – Approche </a:t>
            </a:r>
            <a:r>
              <a:rPr lang="fr-FR" sz="2000" b="1" dirty="0" err="1"/>
              <a:t>GraphRAG</a:t>
            </a:r>
            <a:r>
              <a:rPr lang="fr-FR" sz="2000" b="1" dirty="0"/>
              <a:t> 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3ECCE4-94CB-D32A-6EA9-CE672EB6A950}"/>
              </a:ext>
            </a:extLst>
          </p:cNvPr>
          <p:cNvSpPr txBox="1">
            <a:spLocks/>
          </p:cNvSpPr>
          <p:nvPr/>
        </p:nvSpPr>
        <p:spPr>
          <a:xfrm>
            <a:off x="690065" y="2606898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>
                <a:latin typeface="Calibri (Corps)"/>
              </a:rPr>
              <a:t>4 – </a:t>
            </a:r>
            <a:r>
              <a:rPr lang="fr-FR" sz="2000" b="1" dirty="0">
                <a:solidFill>
                  <a:schemeClr val="tx1"/>
                </a:solidFill>
                <a:latin typeface="Calibri (Corps)"/>
              </a:rPr>
              <a:t>Évaluation pour le fine-tuning</a:t>
            </a:r>
            <a:endParaRPr lang="fr-FR" sz="2000" b="1" dirty="0">
              <a:latin typeface="Calibri (Corps)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C1872D6-6185-2225-5E92-A9178DC53290}"/>
              </a:ext>
            </a:extLst>
          </p:cNvPr>
          <p:cNvSpPr txBox="1">
            <a:spLocks/>
          </p:cNvSpPr>
          <p:nvPr/>
        </p:nvSpPr>
        <p:spPr>
          <a:xfrm>
            <a:off x="690065" y="3124146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>
                <a:latin typeface="Calibri (Corps)"/>
              </a:rPr>
              <a:t>5 – </a:t>
            </a:r>
            <a:r>
              <a:rPr lang="fr-FR" sz="2000" b="1" dirty="0">
                <a:solidFill>
                  <a:schemeClr val="tx1"/>
                </a:solidFill>
                <a:latin typeface="Calibri (Corps)"/>
              </a:rPr>
              <a:t>Évaluation pour le RAG</a:t>
            </a:r>
            <a:endParaRPr lang="fr-FR" sz="2000" b="1" dirty="0">
              <a:latin typeface="Calibri (Corps)"/>
            </a:endParaRPr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 Le jeu de données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86912FA-2338-5F49-D31B-EC969C1718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17" y="1336816"/>
            <a:ext cx="3178535" cy="103959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F55B68D-3FAF-7E77-EBAC-E13E83246D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691" y="1411360"/>
            <a:ext cx="4178530" cy="233844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ABFFF92-564B-153D-B518-FE8890C46F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23" y="3022169"/>
            <a:ext cx="3565225" cy="1345136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C78329F9-72C8-D7D1-3848-D5E17ADB45A3}"/>
              </a:ext>
            </a:extLst>
          </p:cNvPr>
          <p:cNvSpPr txBox="1">
            <a:spLocks/>
          </p:cNvSpPr>
          <p:nvPr/>
        </p:nvSpPr>
        <p:spPr>
          <a:xfrm>
            <a:off x="4215575" y="894112"/>
            <a:ext cx="1263075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Concepts :</a:t>
            </a:r>
            <a:endParaRPr lang="fr-FR" sz="1600" b="1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A22AB00-D91E-E2BE-6276-0AB87821860A}"/>
              </a:ext>
            </a:extLst>
          </p:cNvPr>
          <p:cNvSpPr txBox="1">
            <a:spLocks/>
          </p:cNvSpPr>
          <p:nvPr/>
        </p:nvSpPr>
        <p:spPr>
          <a:xfrm>
            <a:off x="299023" y="918328"/>
            <a:ext cx="812692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:</a:t>
            </a:r>
            <a:endParaRPr lang="fr-FR" sz="1600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A96807A-0C33-0EF2-4960-61C1F0173766}"/>
              </a:ext>
            </a:extLst>
          </p:cNvPr>
          <p:cNvSpPr txBox="1">
            <a:spLocks/>
          </p:cNvSpPr>
          <p:nvPr/>
        </p:nvSpPr>
        <p:spPr>
          <a:xfrm>
            <a:off x="214430" y="2504920"/>
            <a:ext cx="1263075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Thesaurus :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89054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Approche par fine-tuning : Construction du jeu d'entraînement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D301999-6D8C-C19E-B65A-7BB87B5818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67" y="3039842"/>
            <a:ext cx="3300323" cy="129243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FDB755C-EF61-18B0-3BFD-477E2D7B14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960" y="1426304"/>
            <a:ext cx="3419070" cy="87829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EF0BD936-CAC4-2CFA-68BB-FC0538F20B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039842"/>
            <a:ext cx="3332326" cy="1451174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06863B47-FBF0-8180-37CB-F448E1C3C0B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37" y="1313653"/>
            <a:ext cx="3467336" cy="1229151"/>
          </a:xfrm>
          <a:prstGeom prst="rect">
            <a:avLst/>
          </a:prstGeom>
        </p:spPr>
      </p:pic>
      <p:sp>
        <p:nvSpPr>
          <p:cNvPr id="24" name="Titre 1">
            <a:extLst>
              <a:ext uri="{FF2B5EF4-FFF2-40B4-BE49-F238E27FC236}">
                <a16:creationId xmlns:a16="http://schemas.microsoft.com/office/drawing/2014/main" id="{DE56009F-D869-CB65-BBCB-607044D7EED7}"/>
              </a:ext>
            </a:extLst>
          </p:cNvPr>
          <p:cNvSpPr txBox="1">
            <a:spLocks/>
          </p:cNvSpPr>
          <p:nvPr/>
        </p:nvSpPr>
        <p:spPr>
          <a:xfrm>
            <a:off x="572468" y="2571750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Rattachement</a:t>
            </a:r>
            <a:r>
              <a:rPr lang="en-US" sz="1600" b="1" dirty="0"/>
              <a:t> au thesaurus :</a:t>
            </a:r>
            <a:endParaRPr lang="fr-FR" sz="1600" b="1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0F51A40-66E1-0777-B41B-4B37F990F88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Génération</a:t>
            </a:r>
            <a:r>
              <a:rPr lang="en-US" sz="1600" b="1" dirty="0"/>
              <a:t> de concepts :</a:t>
            </a:r>
            <a:endParaRPr lang="fr-FR" sz="1600" b="1" dirty="0"/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03A695F8-A2D6-C1DF-D73F-C35E53C38811}"/>
              </a:ext>
            </a:extLst>
          </p:cNvPr>
          <p:cNvSpPr txBox="1">
            <a:spLocks/>
          </p:cNvSpPr>
          <p:nvPr/>
        </p:nvSpPr>
        <p:spPr>
          <a:xfrm>
            <a:off x="5088267" y="913472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Decoupage du corpus</a:t>
            </a:r>
            <a:endParaRPr lang="fr-FR" sz="1600" b="1" dirty="0"/>
          </a:p>
        </p:txBody>
      </p:sp>
      <p:sp>
        <p:nvSpPr>
          <p:cNvPr id="27" name="Titre 1">
            <a:extLst>
              <a:ext uri="{FF2B5EF4-FFF2-40B4-BE49-F238E27FC236}">
                <a16:creationId xmlns:a16="http://schemas.microsoft.com/office/drawing/2014/main" id="{483BD137-EAFA-C035-FEF1-B5B5F6DEFC95}"/>
              </a:ext>
            </a:extLst>
          </p:cNvPr>
          <p:cNvSpPr txBox="1">
            <a:spLocks/>
          </p:cNvSpPr>
          <p:nvPr/>
        </p:nvSpPr>
        <p:spPr>
          <a:xfrm>
            <a:off x="5088267" y="2522593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Modeles</a:t>
            </a:r>
            <a:r>
              <a:rPr lang="en-US" sz="1600" b="1" dirty="0"/>
              <a:t> </a:t>
            </a:r>
            <a:r>
              <a:rPr lang="en-US" sz="1600" b="1" dirty="0" err="1"/>
              <a:t>évalués</a:t>
            </a:r>
            <a:r>
              <a:rPr lang="en-US" sz="1600" b="1" dirty="0"/>
              <a:t> 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133423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Approche par fine-tuning : </a:t>
            </a:r>
            <a:r>
              <a:rPr lang="en-US" sz="2800" b="1" dirty="0"/>
              <a:t>Architecture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F99BBCE-2807-EA45-F9B2-3F08C5AF27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742" y="863265"/>
            <a:ext cx="4046902" cy="3781309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78AABEC3-5245-A949-BED1-6E1C000F6D11}"/>
              </a:ext>
            </a:extLst>
          </p:cNvPr>
          <p:cNvSpPr txBox="1">
            <a:spLocks/>
          </p:cNvSpPr>
          <p:nvPr/>
        </p:nvSpPr>
        <p:spPr>
          <a:xfrm>
            <a:off x="690065" y="1023892"/>
            <a:ext cx="2820301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Architecture global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85760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Approche </a:t>
            </a:r>
            <a:r>
              <a:rPr lang="fr-FR" sz="2800" b="1" dirty="0" err="1"/>
              <a:t>GraphRAG</a:t>
            </a:r>
            <a:r>
              <a:rPr lang="fr-FR" sz="2800" b="1" dirty="0"/>
              <a:t> : </a:t>
            </a:r>
            <a:r>
              <a:rPr lang="en-US" sz="2800" b="1" dirty="0"/>
              <a:t>Architecture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38F7E9E-3795-7DB3-036A-485BA84890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962" y="878862"/>
            <a:ext cx="4749207" cy="375011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CECAC366-4101-0ABD-9ED7-6619EBE8609C}"/>
              </a:ext>
            </a:extLst>
          </p:cNvPr>
          <p:cNvSpPr txBox="1">
            <a:spLocks/>
          </p:cNvSpPr>
          <p:nvPr/>
        </p:nvSpPr>
        <p:spPr>
          <a:xfrm>
            <a:off x="690065" y="1023892"/>
            <a:ext cx="2820301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Architecture global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408368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Approche </a:t>
            </a:r>
            <a:r>
              <a:rPr lang="fr-FR" sz="2800" b="1" dirty="0" err="1"/>
              <a:t>GraphRAG</a:t>
            </a:r>
            <a:r>
              <a:rPr lang="fr-FR" sz="2800" b="1" dirty="0"/>
              <a:t> : </a:t>
            </a:r>
            <a:r>
              <a:rPr lang="en-US" sz="2800" b="1" dirty="0"/>
              <a:t>Architecture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5F9627A-CD53-81D7-3BC5-8E93E542C8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843" y="1275426"/>
            <a:ext cx="6888997" cy="282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81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Approche </a:t>
            </a:r>
            <a:r>
              <a:rPr lang="fr-FR" sz="2800" b="1" dirty="0" err="1"/>
              <a:t>GraphRAG</a:t>
            </a:r>
            <a:r>
              <a:rPr lang="fr-FR" sz="2800" b="1" dirty="0"/>
              <a:t> : </a:t>
            </a:r>
            <a:r>
              <a:rPr lang="en-US" sz="2800" b="1" dirty="0"/>
              <a:t>Architecture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40E37C8-585F-35D3-3F77-DCCFF1CD92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92" y="2764695"/>
            <a:ext cx="4184542" cy="15986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C6BC60B-D851-C665-6B2B-ED741AE32D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20" y="2584487"/>
            <a:ext cx="3274447" cy="136542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8B16B2B-EA93-8D21-BA0A-A0BB432024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93" y="985807"/>
            <a:ext cx="4202658" cy="159868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76A88EB-C310-CF96-4057-8DC28B5CB95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20" y="1077858"/>
            <a:ext cx="3734259" cy="111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9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sz="2400" b="1" dirty="0"/>
              <a:t>Precision, rappel et F1</a:t>
            </a:r>
            <a:endParaRPr lang="fr-FR" sz="24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40E2E10-9DFF-8CDC-B538-614CA998E8DC}"/>
              </a:ext>
            </a:extLst>
          </p:cNvPr>
          <p:cNvSpPr txBox="1">
            <a:spLocks/>
          </p:cNvSpPr>
          <p:nvPr/>
        </p:nvSpPr>
        <p:spPr>
          <a:xfrm>
            <a:off x="628650" y="892156"/>
            <a:ext cx="2820301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D856E72-C8AC-D792-2B16-72E5F53969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937" y="2975904"/>
            <a:ext cx="4111661" cy="101094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8F0B63D-D0C8-7A5C-37DF-E97B23BA26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733" y="1449178"/>
            <a:ext cx="4675267" cy="101094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E14F6BD-6E2D-E3E0-87BB-40985EF1EE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91" y="3055536"/>
            <a:ext cx="4398158" cy="91700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27C5433-465A-7290-4D81-5CF7426F27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1" y="1473608"/>
            <a:ext cx="3778618" cy="1010946"/>
          </a:xfrm>
          <a:prstGeom prst="rect">
            <a:avLst/>
          </a:prstGeom>
        </p:spPr>
      </p:pic>
      <p:sp>
        <p:nvSpPr>
          <p:cNvPr id="40" name="Titre 1">
            <a:extLst>
              <a:ext uri="{FF2B5EF4-FFF2-40B4-BE49-F238E27FC236}">
                <a16:creationId xmlns:a16="http://schemas.microsoft.com/office/drawing/2014/main" id="{B8B599A8-16F5-86E0-8C03-A5E917CEAE8A}"/>
              </a:ext>
            </a:extLst>
          </p:cNvPr>
          <p:cNvSpPr txBox="1">
            <a:spLocks/>
          </p:cNvSpPr>
          <p:nvPr/>
        </p:nvSpPr>
        <p:spPr>
          <a:xfrm>
            <a:off x="68402" y="996576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Exemple</a:t>
            </a:r>
            <a:r>
              <a:rPr lang="en-US" sz="1600" b="1" dirty="0"/>
              <a:t> courthouse :</a:t>
            </a:r>
            <a:endParaRPr lang="fr-FR" sz="1600" b="1" dirty="0"/>
          </a:p>
        </p:txBody>
      </p:sp>
      <p:sp>
        <p:nvSpPr>
          <p:cNvPr id="41" name="Titre 1">
            <a:extLst>
              <a:ext uri="{FF2B5EF4-FFF2-40B4-BE49-F238E27FC236}">
                <a16:creationId xmlns:a16="http://schemas.microsoft.com/office/drawing/2014/main" id="{3AFDA72E-8245-1389-E6E9-E626120D7A06}"/>
              </a:ext>
            </a:extLst>
          </p:cNvPr>
          <p:cNvSpPr txBox="1">
            <a:spLocks/>
          </p:cNvSpPr>
          <p:nvPr/>
        </p:nvSpPr>
        <p:spPr>
          <a:xfrm>
            <a:off x="68402" y="2578504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TP ,FP ,FN :</a:t>
            </a:r>
            <a:endParaRPr lang="fr-FR" sz="1600" b="1" dirty="0"/>
          </a:p>
        </p:txBody>
      </p:sp>
      <p:sp>
        <p:nvSpPr>
          <p:cNvPr id="43" name="Titre 1">
            <a:extLst>
              <a:ext uri="{FF2B5EF4-FFF2-40B4-BE49-F238E27FC236}">
                <a16:creationId xmlns:a16="http://schemas.microsoft.com/office/drawing/2014/main" id="{CED3B3BF-469F-2575-D80A-3D91FED10CA3}"/>
              </a:ext>
            </a:extLst>
          </p:cNvPr>
          <p:cNvSpPr txBox="1">
            <a:spLocks/>
          </p:cNvSpPr>
          <p:nvPr/>
        </p:nvSpPr>
        <p:spPr>
          <a:xfrm>
            <a:off x="4419675" y="1003418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Précision</a:t>
            </a:r>
            <a:r>
              <a:rPr lang="en-US" sz="1600" b="1" dirty="0"/>
              <a:t> ,Rappel ,F1 :</a:t>
            </a:r>
            <a:endParaRPr lang="fr-FR" sz="1600" b="1" dirty="0"/>
          </a:p>
        </p:txBody>
      </p:sp>
      <p:sp>
        <p:nvSpPr>
          <p:cNvPr id="44" name="Titre 1">
            <a:extLst>
              <a:ext uri="{FF2B5EF4-FFF2-40B4-BE49-F238E27FC236}">
                <a16:creationId xmlns:a16="http://schemas.microsoft.com/office/drawing/2014/main" id="{320E073E-A54A-0A3E-7CB3-49626CC481A1}"/>
              </a:ext>
            </a:extLst>
          </p:cNvPr>
          <p:cNvSpPr txBox="1">
            <a:spLocks/>
          </p:cNvSpPr>
          <p:nvPr/>
        </p:nvSpPr>
        <p:spPr>
          <a:xfrm>
            <a:off x="4912004" y="2521485"/>
            <a:ext cx="302895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Comparaison</a:t>
            </a:r>
            <a:r>
              <a:rPr lang="en-US" sz="1600" b="1" dirty="0"/>
              <a:t> :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119749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Macro et Micro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40E2E10-9DFF-8CDC-B538-614CA998E8DC}"/>
              </a:ext>
            </a:extLst>
          </p:cNvPr>
          <p:cNvSpPr txBox="1">
            <a:spLocks/>
          </p:cNvSpPr>
          <p:nvPr/>
        </p:nvSpPr>
        <p:spPr>
          <a:xfrm>
            <a:off x="95207" y="1044890"/>
            <a:ext cx="2820301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Macro vs Micro :</a:t>
            </a:r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E79F3A7-FFF4-FCAE-5112-846145EFFF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732" y="2925605"/>
            <a:ext cx="4072622" cy="12371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BD3AD52-0D62-0FC4-2D39-94E60E3DDD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732" y="1574553"/>
            <a:ext cx="3963098" cy="89615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72A46AC-BD58-D2FC-69A2-6CEAF7CADF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7" y="2925605"/>
            <a:ext cx="4476793" cy="92897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5007688-EA76-71E3-E1C2-F240292B7B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88" y="1566047"/>
            <a:ext cx="4323058" cy="816947"/>
          </a:xfrm>
          <a:prstGeom prst="rect">
            <a:avLst/>
          </a:pr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F63CA246-6477-2F77-92F4-29423E7FEDB9}"/>
              </a:ext>
            </a:extLst>
          </p:cNvPr>
          <p:cNvSpPr txBox="1">
            <a:spLocks/>
          </p:cNvSpPr>
          <p:nvPr/>
        </p:nvSpPr>
        <p:spPr>
          <a:xfrm>
            <a:off x="0" y="2449737"/>
            <a:ext cx="2820301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Exemple</a:t>
            </a:r>
            <a:r>
              <a:rPr lang="en-US" sz="1600" b="1" dirty="0"/>
              <a:t> :</a:t>
            </a:r>
            <a:endParaRPr lang="fr-FR" sz="1600" b="1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65BEDF0F-F5C5-D4B9-D2FF-2AB4ED43F000}"/>
              </a:ext>
            </a:extLst>
          </p:cNvPr>
          <p:cNvSpPr txBox="1">
            <a:spLocks/>
          </p:cNvSpPr>
          <p:nvPr/>
        </p:nvSpPr>
        <p:spPr>
          <a:xfrm>
            <a:off x="4633627" y="1082108"/>
            <a:ext cx="2820301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Macro vs Micro results :</a:t>
            </a:r>
            <a:endParaRPr lang="fr-FR" sz="1600" b="1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5866FD0-3C1F-D1A2-93C4-153D1901DC98}"/>
              </a:ext>
            </a:extLst>
          </p:cNvPr>
          <p:cNvSpPr txBox="1"/>
          <p:nvPr/>
        </p:nvSpPr>
        <p:spPr>
          <a:xfrm>
            <a:off x="4633627" y="2607670"/>
            <a:ext cx="4587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macro micro par </a:t>
            </a:r>
            <a:r>
              <a:rPr lang="en-US" sz="1400" b="1" dirty="0" err="1"/>
              <a:t>modele</a:t>
            </a:r>
            <a:r>
              <a:rPr lang="en-US" sz="1400" b="1" dirty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823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sz="2800" b="1" dirty="0" err="1">
                <a:solidFill>
                  <a:schemeClr val="tx1"/>
                </a:solidFill>
                <a:latin typeface="Calibri (Corps)"/>
              </a:rPr>
              <a:t>Similarité</a:t>
            </a:r>
            <a:r>
              <a:rPr lang="en-US" sz="2800" b="1" dirty="0">
                <a:solidFill>
                  <a:schemeClr val="tx1"/>
                </a:solidFill>
                <a:latin typeface="Calibri (Corps)"/>
              </a:rPr>
              <a:t> 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CA0DFA6-EAC2-78C0-8659-078362F9FA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70" y="1469240"/>
            <a:ext cx="7601919" cy="245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36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b="1" dirty="0">
                <a:solidFill>
                  <a:schemeClr val="tx1"/>
                </a:solidFill>
                <a:latin typeface="Calibri (Corps)"/>
              </a:rPr>
              <a:t>Llama</a:t>
            </a:r>
            <a:r>
              <a:rPr lang="en-US" sz="2800" b="1" dirty="0">
                <a:solidFill>
                  <a:schemeClr val="tx1"/>
                </a:solidFill>
                <a:latin typeface="Calibri (Corps)"/>
              </a:rPr>
              <a:t> 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7E36F9A-4BD6-B2E9-68B2-3410013477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9" y="2936089"/>
            <a:ext cx="4285281" cy="128038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0E5D428-E0FA-8BD6-6BF6-2AF7E92C1E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49" y="1167858"/>
            <a:ext cx="4178643" cy="140389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AFC413A-6EFB-526E-810A-2F2627C426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70534"/>
            <a:ext cx="4373646" cy="287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811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b="1" dirty="0">
                <a:solidFill>
                  <a:schemeClr val="tx1"/>
                </a:solidFill>
                <a:latin typeface="Calibri (Corps)"/>
              </a:rPr>
              <a:t>Llama</a:t>
            </a:r>
            <a:r>
              <a:rPr lang="en-US" sz="2800" b="1" dirty="0">
                <a:solidFill>
                  <a:schemeClr val="tx1"/>
                </a:solidFill>
                <a:latin typeface="Calibri (Corps)"/>
              </a:rPr>
              <a:t> 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EF8A164-A8CE-8C7A-4511-9FB413409D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92553"/>
            <a:ext cx="6136360" cy="116305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C4DA2D3-C781-7683-7635-4009CF046E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33" y="2641493"/>
            <a:ext cx="5974994" cy="160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77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b="1" dirty="0">
                <a:solidFill>
                  <a:schemeClr val="tx1"/>
                </a:solidFill>
                <a:latin typeface="Calibri (Corps)"/>
              </a:rPr>
              <a:t>Mistral</a:t>
            </a:r>
            <a:r>
              <a:rPr lang="en-US" sz="2800" b="1" dirty="0">
                <a:solidFill>
                  <a:schemeClr val="tx1"/>
                </a:solidFill>
                <a:latin typeface="Calibri (Corps)"/>
              </a:rPr>
              <a:t> 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04E77C9-C98D-5B5F-76A1-AF38085C76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85" y="3014123"/>
            <a:ext cx="4571031" cy="143085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777F4F6-F9E7-CF26-BAD5-C8D88918EF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01" y="1180232"/>
            <a:ext cx="4423798" cy="134471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9034129-0DC8-3FEB-37EF-E2A543F935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713" y="1180232"/>
            <a:ext cx="3902246" cy="25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35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b="1" dirty="0">
                <a:solidFill>
                  <a:schemeClr val="tx1"/>
                </a:solidFill>
                <a:latin typeface="Calibri (Corps)"/>
              </a:rPr>
              <a:t>Mistral</a:t>
            </a:r>
            <a:r>
              <a:rPr lang="en-US" sz="2800" b="1" dirty="0">
                <a:solidFill>
                  <a:schemeClr val="tx1"/>
                </a:solidFill>
                <a:latin typeface="Calibri (Corps)"/>
              </a:rPr>
              <a:t> 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869BEE2-8F54-0E78-3860-8BBF6A94BD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834" y="1221514"/>
            <a:ext cx="6524786" cy="82990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4E5E659-A7AA-8E2F-348D-EA2C1DCDC1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359" y="2403872"/>
            <a:ext cx="5673973" cy="166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19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en-US" b="1" dirty="0" err="1">
                <a:solidFill>
                  <a:schemeClr val="tx1"/>
                </a:solidFill>
                <a:latin typeface="Calibri (Corps)"/>
              </a:rPr>
              <a:t>Qwen</a:t>
            </a:r>
            <a:r>
              <a:rPr lang="en-US" sz="2800" b="1" dirty="0">
                <a:solidFill>
                  <a:schemeClr val="tx1"/>
                </a:solidFill>
                <a:latin typeface="Calibri (Corps)"/>
              </a:rPr>
              <a:t> 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3060291-8228-BDB5-66FB-C2ACFDF9B6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520" y="1423423"/>
            <a:ext cx="3489432" cy="229665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744B314-652E-9CB1-CD93-D5877D3AF6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07" y="1279311"/>
            <a:ext cx="4747283" cy="99119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A1AD00D-F554-D72A-193B-FF346C25DB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28" y="2525973"/>
            <a:ext cx="4901050" cy="164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23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</a:t>
            </a:r>
            <a:r>
              <a:rPr lang="fr-FR" sz="2800" b="1" dirty="0" err="1">
                <a:solidFill>
                  <a:schemeClr val="tx1"/>
                </a:solidFill>
                <a:latin typeface="Calibri (Corps)"/>
              </a:rPr>
              <a:t>Qwen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0DF714A-0C85-9261-8A7B-35DE163652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606" y="1174606"/>
            <a:ext cx="6524787" cy="82990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3BB49E9-444E-5CFA-DD4B-10F3E47D61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421" y="2404145"/>
            <a:ext cx="6965668" cy="186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Comparaison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8072895-8EDF-E644-F672-6284114F02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488" y="1055577"/>
            <a:ext cx="4463512" cy="151617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77C77DA-178A-F972-62CE-132139E944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7648"/>
            <a:ext cx="4680393" cy="340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09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fr-FR" sz="2400" b="1" dirty="0"/>
              <a:t>Rattachement au thésaurus</a:t>
            </a:r>
            <a:endParaRPr lang="fr-FR" sz="24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8B9B89-EC25-64C0-7B34-3E119E45F3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38202"/>
            <a:ext cx="6238068" cy="213277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80A2602-4989-AE9C-2C5A-573982CC3B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940313"/>
            <a:ext cx="6116847" cy="107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66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fr-FR" sz="2400" b="1" dirty="0"/>
              <a:t>Rattachement au thésaurus</a:t>
            </a:r>
            <a:endParaRPr lang="fr-FR" sz="24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36C1530-B83D-6F62-6DA5-963D30DD40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962" y="1374585"/>
            <a:ext cx="3990549" cy="239432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5CE4BB6-5C54-4435-225D-FBADAC1C4D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89" y="1430282"/>
            <a:ext cx="4419506" cy="203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8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fr-FR" sz="2400" b="1" dirty="0"/>
              <a:t>Rattachement au thésaurus</a:t>
            </a:r>
            <a:endParaRPr lang="fr-FR" sz="24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971916-B9F9-0717-F6A2-4CC8A6D4CF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029" y="1430282"/>
            <a:ext cx="4084482" cy="245068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341CAD0-90E8-24B4-B10B-5C23056A53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18" y="1430282"/>
            <a:ext cx="4084482" cy="176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87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fr-FR" sz="2400" b="1" dirty="0"/>
              <a:t>Rattachement au thésaurus</a:t>
            </a:r>
            <a:endParaRPr lang="fr-FR" sz="24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865986C-5E70-79B5-B3AE-B899F81728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725" y="1348352"/>
            <a:ext cx="4294016" cy="257640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1400F8F-1ED4-455C-6E6F-005C1D6C37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" y="1348352"/>
            <a:ext cx="4572000" cy="198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12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chemeClr val="tx1"/>
                </a:solidFill>
                <a:latin typeface="Calibri (Corps)"/>
              </a:rPr>
              <a:t>Évaluation pour le fine-tuning : Comparaison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A88C212-2260-C462-FBD4-39BD6F8C49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92" y="1368293"/>
            <a:ext cx="4737826" cy="213872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730872E-4C0E-CC67-65CA-12810E700B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2" y="1368293"/>
            <a:ext cx="4068305" cy="180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79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b="1" dirty="0">
                <a:solidFill>
                  <a:schemeClr val="tx1"/>
                </a:solidFill>
                <a:latin typeface="Calibri (Corps)"/>
              </a:rPr>
              <a:t>Évaluation pour le fine-tuning : </a:t>
            </a:r>
            <a:r>
              <a:rPr lang="fr-FR" sz="2400" b="1" dirty="0"/>
              <a:t>Rattachement au thésaurus</a:t>
            </a:r>
            <a:endParaRPr lang="fr-FR" sz="24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21954F0-06CC-526A-AEEF-878070242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30" y="963147"/>
            <a:ext cx="5889355" cy="143359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A6215C8-3E17-2A11-B755-3850197A83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30" y="2571750"/>
            <a:ext cx="5992861" cy="207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409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254</Words>
  <Application>Microsoft Office PowerPoint</Application>
  <PresentationFormat>Affichage à l'écran (16:9)</PresentationFormat>
  <Paragraphs>70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(Corps)</vt:lpstr>
      <vt:lpstr>Times New Roman</vt:lpstr>
      <vt:lpstr>Thème Office</vt:lpstr>
      <vt:lpstr>Service LLM</vt:lpstr>
      <vt:lpstr>Plan de la présentation</vt:lpstr>
      <vt:lpstr> Le jeu de données</vt:lpstr>
      <vt:lpstr>Approche par fine-tuning : Construction du jeu d'entraînement</vt:lpstr>
      <vt:lpstr>Approche par fine-tuning : Architecture</vt:lpstr>
      <vt:lpstr>Approche GraphRAG : Architecture</vt:lpstr>
      <vt:lpstr>Approche GraphRAG : Architecture</vt:lpstr>
      <vt:lpstr>Approche GraphRAG : Architecture</vt:lpstr>
      <vt:lpstr>Évaluation pour le fine-tuning : Precision, rappel et F1</vt:lpstr>
      <vt:lpstr>Évaluation pour le fine-tuning : Macro et Micro</vt:lpstr>
      <vt:lpstr>Évaluation pour le fine-tuning : Similarité </vt:lpstr>
      <vt:lpstr>Évaluation pour le fine-tuning : Llama </vt:lpstr>
      <vt:lpstr>Évaluation pour le fine-tuning : Llama </vt:lpstr>
      <vt:lpstr>Évaluation pour le fine-tuning : Mistral </vt:lpstr>
      <vt:lpstr>Évaluation pour le fine-tuning : Mistral </vt:lpstr>
      <vt:lpstr>Évaluation pour le fine-tuning : Qwen </vt:lpstr>
      <vt:lpstr>Évaluation pour le fine-tuning :Qwen</vt:lpstr>
      <vt:lpstr>Évaluation pour le fine-tuning : Comparaison</vt:lpstr>
      <vt:lpstr>Évaluation pour le fine-tuning : Rattachement au thésaurus</vt:lpstr>
      <vt:lpstr>Évaluation pour le fine-tuning : Rattachement au thésaurus</vt:lpstr>
      <vt:lpstr>Évaluation pour le fine-tuning : Rattachement au thésaurus</vt:lpstr>
      <vt:lpstr>Évaluation pour le fine-tuning : Rattachement au thésaurus</vt:lpstr>
      <vt:lpstr>Évaluation pour le fine-tuning : Comparaison</vt:lpstr>
      <vt:lpstr>Évaluation pour le fine-tuning : Rattachement au thésaurus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30</cp:revision>
  <dcterms:created xsi:type="dcterms:W3CDTF">2026-05-20T12:58:41Z</dcterms:created>
  <dcterms:modified xsi:type="dcterms:W3CDTF">2026-08-28T15:25:46Z</dcterms:modified>
</cp:coreProperties>
</file>